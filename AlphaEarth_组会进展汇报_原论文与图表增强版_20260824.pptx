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753f83f7af43de" /><Relationship Type="http://schemas.openxmlformats.org/officeDocument/2006/relationships/extended-properties" Target="/docProps/app.xml" Id="R218219a0376d4f1f" /><Relationship Type="http://schemas.openxmlformats.org/officeDocument/2006/relationships/officeDocument" Target="/ppt/presentation.xml" Id="R7ee42db00d05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e42463b7f43d6"/>
  </p:sldMasterIdLst>
  <p:notesMasterIdLst>
    <p:notesMasterId xmlns:r="http://schemas.openxmlformats.org/officeDocument/2006/relationships" r:id="Re633dabf535c4e18"/>
  </p:notesMasterIdLst>
  <p:sldIdLst>
    <p:sldId xmlns:r="http://schemas.openxmlformats.org/officeDocument/2006/relationships" id="256" r:id="Rc6e815d1056c468b"/>
    <p:sldId xmlns:r="http://schemas.openxmlformats.org/officeDocument/2006/relationships" id="257" r:id="R776c0a00a2d9420b"/>
    <p:sldId xmlns:r="http://schemas.openxmlformats.org/officeDocument/2006/relationships" id="258" r:id="R2dd5a55cbaab406f"/>
    <p:sldId xmlns:r="http://schemas.openxmlformats.org/officeDocument/2006/relationships" id="259" r:id="R4bf661affec541c4"/>
    <p:sldId xmlns:r="http://schemas.openxmlformats.org/officeDocument/2006/relationships" id="260" r:id="R3082a6a8bf6a4b6a"/>
    <p:sldId xmlns:r="http://schemas.openxmlformats.org/officeDocument/2006/relationships" id="261" r:id="Re092f94c75a24c06"/>
    <p:sldId xmlns:r="http://schemas.openxmlformats.org/officeDocument/2006/relationships" id="262" r:id="R6a84d2653030492e"/>
    <p:sldId xmlns:r="http://schemas.openxmlformats.org/officeDocument/2006/relationships" id="263" r:id="R6aa4629a4b0740e1"/>
    <p:sldId xmlns:r="http://schemas.openxmlformats.org/officeDocument/2006/relationships" id="264" r:id="R366689a2e66145a7"/>
    <p:sldId xmlns:r="http://schemas.openxmlformats.org/officeDocument/2006/relationships" id="265" r:id="R89cc933055d44995"/>
    <p:sldId xmlns:r="http://schemas.openxmlformats.org/officeDocument/2006/relationships" id="266" r:id="Rb27516d96c754644"/>
    <p:sldId xmlns:r="http://schemas.openxmlformats.org/officeDocument/2006/relationships" id="267" r:id="R877c35f09c8d414c"/>
    <p:sldId xmlns:r="http://schemas.openxmlformats.org/officeDocument/2006/relationships" id="268" r:id="Rd4b73ad6979645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ed0b42f51d4d5d" /><Relationship Type="http://schemas.openxmlformats.org/officeDocument/2006/relationships/slideMaster" Target="/ppt/slideMasters/slideMaster1.xml" Id="R00ae42463b7f43d6" /><Relationship Type="http://schemas.openxmlformats.org/officeDocument/2006/relationships/notesMaster" Target="/ppt/notesMasters/notesMaster1.xml" Id="Re633dabf535c4e18" /><Relationship Type="http://schemas.openxmlformats.org/officeDocument/2006/relationships/presProps" Target="/ppt/presProps.xml" Id="R35825261f7064ff8" /><Relationship Type="http://schemas.openxmlformats.org/officeDocument/2006/relationships/tableStyles" Target="/ppt/tableStyles.xml" Id="R9b5c5717cf054a43" /><Relationship Type="http://schemas.openxmlformats.org/officeDocument/2006/relationships/slide" Target="/ppt/slides/slide1.xml" Id="Rc6e815d1056c468b" /><Relationship Type="http://schemas.openxmlformats.org/officeDocument/2006/relationships/slide" Target="/ppt/slides/slide2.xml" Id="R776c0a00a2d9420b" /><Relationship Type="http://schemas.openxmlformats.org/officeDocument/2006/relationships/slide" Target="/ppt/slides/slide3.xml" Id="R2dd5a55cbaab406f" /><Relationship Type="http://schemas.openxmlformats.org/officeDocument/2006/relationships/slide" Target="/ppt/slides/slide4.xml" Id="R4bf661affec541c4" /><Relationship Type="http://schemas.openxmlformats.org/officeDocument/2006/relationships/slide" Target="/ppt/slides/slide5.xml" Id="R3082a6a8bf6a4b6a" /><Relationship Type="http://schemas.openxmlformats.org/officeDocument/2006/relationships/slide" Target="/ppt/slides/slide6.xml" Id="Re092f94c75a24c06" /><Relationship Type="http://schemas.openxmlformats.org/officeDocument/2006/relationships/slide" Target="/ppt/slides/slide7.xml" Id="R6a84d2653030492e" /><Relationship Type="http://schemas.openxmlformats.org/officeDocument/2006/relationships/slide" Target="/ppt/slides/slide8.xml" Id="R6aa4629a4b0740e1" /><Relationship Type="http://schemas.openxmlformats.org/officeDocument/2006/relationships/slide" Target="/ppt/slides/slide9.xml" Id="R366689a2e66145a7" /><Relationship Type="http://schemas.openxmlformats.org/officeDocument/2006/relationships/slide" Target="/ppt/slides/slide10.xml" Id="R89cc933055d44995" /><Relationship Type="http://schemas.openxmlformats.org/officeDocument/2006/relationships/slide" Target="/ppt/slides/slide11.xml" Id="Rb27516d96c754644" /><Relationship Type="http://schemas.openxmlformats.org/officeDocument/2006/relationships/slide" Target="/ppt/slides/slide12.xml" Id="R877c35f09c8d414c" /><Relationship Type="http://schemas.openxmlformats.org/officeDocument/2006/relationships/slide" Target="/ppt/slides/slide13.xml" Id="Rd4b73ad69796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629b973814c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39f21ee1be46a1" /><Relationship Type="http://schemas.openxmlformats.org/officeDocument/2006/relationships/notesMaster" Target="/ppt/notesMasters/notesMaster1.xml" Id="Re9c49238366a42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20189506fb4e8f" /><Relationship Type="http://schemas.openxmlformats.org/officeDocument/2006/relationships/notesMaster" Target="/ppt/notesMasters/notesMaster1.xml" Id="Rfeb6efb7565d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38b39d3e54686" /><Relationship Type="http://schemas.openxmlformats.org/officeDocument/2006/relationships/notesMaster" Target="/ppt/notesMasters/notesMaster1.xml" Id="Rf9766db69ce1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43df4f3984a3d" /><Relationship Type="http://schemas.openxmlformats.org/officeDocument/2006/relationships/notesMaster" Target="/ppt/notesMasters/notesMaster1.xml" Id="R9524da5c2138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018749eeb24233" /><Relationship Type="http://schemas.openxmlformats.org/officeDocument/2006/relationships/notesMaster" Target="/ppt/notesMasters/notesMaster1.xml" Id="Re3d968fa779641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64d33857b416f" /><Relationship Type="http://schemas.openxmlformats.org/officeDocument/2006/relationships/notesMaster" Target="/ppt/notesMasters/notesMaster1.xml" Id="R1ef072cd57274e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ffbfc8b1314681" /><Relationship Type="http://schemas.openxmlformats.org/officeDocument/2006/relationships/notesMaster" Target="/ppt/notesMasters/notesMaster1.xml" Id="R25208a72494744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dd68fb3e994e45" /><Relationship Type="http://schemas.openxmlformats.org/officeDocument/2006/relationships/notesMaster" Target="/ppt/notesMasters/notesMaster1.xml" Id="R2e43c5a0917846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5e301e094a459f" /><Relationship Type="http://schemas.openxmlformats.org/officeDocument/2006/relationships/notesMaster" Target="/ppt/notesMasters/notesMaster1.xml" Id="Reb8ecf7dc10e47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bee94b4b04480a" /><Relationship Type="http://schemas.openxmlformats.org/officeDocument/2006/relationships/notesMaster" Target="/ppt/notesMasters/notesMaster1.xml" Id="R1033e4751f5044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18cdcdef2942d9" /><Relationship Type="http://schemas.openxmlformats.org/officeDocument/2006/relationships/notesMaster" Target="/ppt/notesMasters/notesMaster1.xml" Id="R373c96a0ffe340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4d83d4cbb43d8" /><Relationship Type="http://schemas.openxmlformats.org/officeDocument/2006/relationships/notesMaster" Target="/ppt/notesMasters/notesMaster1.xml" Id="Rbab9b61dcbf244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77086e84e847b1" /><Relationship Type="http://schemas.openxmlformats.org/officeDocument/2006/relationships/notesMaster" Target="/ppt/notesMasters/notesMaster1.xml" Id="R3b7d88f7287f4a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同学好。今天我汇报的是AlphaEarth表征向量在区域尺度上的可解释性和泛化验证。为了让第一次接触这个项目的老师也能理解，我会先介绍原论文究竟完成了哪些工作、它用什么证据支撑结论；然后说明我复现了其中哪一部分，再解释数据尺度、大湾区与广东省的阶段结果以及下一步验证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/Users/chabing/Desktop/project/alphaearth-reproduction-main/README.md</a:t>
            </a:r>
          </a:p>
          <a:p xmlns:a="http://schemas.openxmlformats.org/drawingml/2006/main">
            <a:r>
              <a:t>- https://arxiv.org/pdf/2602.10354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原论文的完整工作。它不是只训练一个预测模型，而是包含四个阶段。第一，在美国本土约1210万条样本上，用Spearman、随机森林和Transformer解释64维AlphaEarth表征与26项环境变量的关系。第二，用2度空间分块和2017到2023年的年度比较验证空间与时间稳健性。第三，根据稳定关系建立维度含义字典，并把全部表征写入FAISS向量数据库。第四，结合检索增强生成和大语言模型，形成地表环境问答系统，并完成360轮系统评价。我们当前主要复现前两步，还没有进入知识库和问答应用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的结论不是靠单一指标支撑。左图列出随机森林的代表结果：露点温度和平均气温R平方达到0.97，地表温度和高程约0.96，NDVI、EVI和树木覆盖约0.93到0.94。右上图显示，26个变量中随机森林有12个、Transformer有14个变量的R平方超过0.90。空间验证方面，随机森林前10项平均损失只有0.009，Transformer平均损失为0.017；年度相关轮廓平均达到0.963。应用层还完成360轮评价，系统平均得分为3.74分。这些指标构成我们区域复现需要对照的论文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phaEarth会把某个地点在某一年的多源遥感信息压缩成64个数字，称为64维表征向量。这里的表征向量不是直接的温度、降水或植被指数，而是一组由模型学习得到的抽象特征。我的工作是把这64个数字与同一地点、同一年对应的26个环境变量配对，然后回答三个问题：第一，能否从这64个数字重建环境变量；第二，哪些维度具有稳定的物理含义；第三，模型在新区域还能不能保持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处理可以分成四步。第一，在研究区建立规则采样点。第二，为每个采样点和年份配对AlphaEarth的64维表征向量与26个环境变量。第三，使用相关分析、随机森林回归和基于注意力机制的回归模型分析两者关系。第四，分别做随机交叉验证、空间分块交叉验证和年度稳定性检验。这里需要明确三个术语：目标变量是要预测的环境量；解释性是维度与物理变量之间是否有稳定关系；泛化是模型在没见过的区域是否仍然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已经完成从大湾区到广东省的扩展。广东省覆盖21个地级市，每年有25125个独立位置，2017到2023年共175875条观测。这里的一条观测不是一张影像，而是某个采样位置在某一年的一行表格，包含64个AlphaEarth特征、26个环境变量、经纬度、城市和年份。规则网格的间距是0.025度，在广东纬度大约相当于东西2.6公里、南北2.8公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/Users/chabing/Desktop/project/alphaearth-reproduction-main/results/guangdong_real/guangdong_sampling_coverage.png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最容易混淆的问题。官方AlphaEarth影像的原生空间分辨率是10米，但我们并没有把每个10米像元作为一条训练样本。严格版按照论文方法，对每个采样点建立500米半径缓冲区，并以1公里计算尺度提取64维向量。因此单条嵌入观测的空间支持范围约为1公里。采样点中心之间又相隔约2.7公里。最后，监督标签来自不同环境产品，原生像元从30米到11.1公里不等。这四个尺度不能统一叫做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https://developers.google.com/earth-engine/datasets/catalog/GOOGLE_SATELLITE_EMBEDDING_V1_ANNUAL</a:t>
            </a:r>
          </a:p>
          <a:p xmlns:a="http://schemas.openxmlformats.org/drawingml/2006/main">
            <a:r>
              <a:t>- /Users/chabing/Desktop/project/alphaearth-reproduction-main/src/fetch_gba_embeddings_gee.py</a:t>
            </a:r>
          </a:p>
          <a:p xmlns:a="http://schemas.openxmlformats.org/drawingml/2006/main">
            <a:r>
              <a:t>- /Users/chabing/Desktop/project/alphaearth-reproduction-main/data/processed/gba_aef_gee_1km_2017_2023.provenance.json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督标签的原生分辨率差异很大。地形数据大约30米，土壤250米，叶面积指数和反照率500米，NDVI、EVI和地表温度约1公里。最粗的是ERA5-Land气候和水文数据，像元边长约11.1公里。当前代码为了统一提取，先进行双线性重采样再取点，但这只是把粗网格插值到更细的输出网格，不会产生新的10米气候信息。因此在解释结果时，应以原始数据源的分辨率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https://developers.google.com/earth-engine/datasets/catalog/USGS_SRTMGL1_003</a:t>
            </a:r>
          </a:p>
          <a:p xmlns:a="http://schemas.openxmlformats.org/drawingml/2006/main">
            <a:r>
              <a:t>- https://developers.google.com/earth-engine/datasets/catalog/MODIS_061_MOD13A2</a:t>
            </a:r>
          </a:p>
          <a:p xmlns:a="http://schemas.openxmlformats.org/drawingml/2006/main">
            <a:r>
              <a:t>- https://developers.google.com/earth-engine/datasets/catalog/MODIS_061_MOD15A2H</a:t>
            </a:r>
          </a:p>
          <a:p xmlns:a="http://schemas.openxmlformats.org/drawingml/2006/main">
            <a:r>
              <a:t>- https://developers.google.com/earth-engine/datasets/catalog/UMD_hansen_global_forest_change_2025_v1_13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原论文、大湾区和广东省放在同一个口径下比较。已经严格对齐的是时间范围、0.025度网格、64维输入、1公里提取尺度和500米缓冲区。主要差异有三类。第一是数据规模：论文约1210万条，我们分别只有5.46万和17.59万条。第二是标签来源：论文的气温和降水使用约4公里的PRISM，我们使用约11.1公里的ERA5-Land；水文数据则都来自ERA5-Land。第三是模型容量：论文的随机森林最多使用70万条样本，Transformer使用500万条、4层8头和60轮训练；区域实验最多使用3万条，Transformer是2层4头和12轮。因此目前是方法复现和区域泛化实验，不是等条件的数值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可以理解为四个层次。Spearman秩相关先寻找单个维度和环境变量之间是否存在稳定的单调关系。随机森林使用全部64维进行非线性预测，同时给出各维度的重要性。紧凑Transformer进一步检验多维之间的联合关系。最后通过交叉验证判断这些关系是否可靠。R平方越接近1，预测越好；空间损失等于随机验证分数减去空间验证分数，越小越说明模型能够迁移到未见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/Users/chabing/Desktop/project/alphaearth-reproduction-main/src/run_gba_real_analysis.py</a:t>
            </a:r>
          </a:p>
          <a:p xmlns:a="http://schemas.openxmlformats.org/drawingml/2006/main">
            <a:r>
              <a:t>- /Users/chabing/Desktop/project/alphaearth-reproduction-main/src/run_gba_transformer.py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三组图直接比较论文、大湾区和广东省。左图是六个代表变量的随机验证结果，论文基本都在0.93到0.97；区域实验中只有高程超过0.90，其他变量仍有明显差距。右上图进一步说明，论文随机森林有12个、Transformer有14个变量的R平方超过0.90，而大湾区和广东省分别只有1个和0个。右下图看空间泛化，论文随机森林和Transformer的损失分别只有0.9和1.7个百分点；大湾区为29.1和21.3个百分点，广东省降到6.7和8.7个百分点。因此更准确的阶段结论是：环境相关信号确实存在，论文级强预测还没有复现，但扩大空间覆盖明显改善了未见区域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https://arxiv.org/html/2602.10354</a:t>
            </a:r>
          </a:p>
          <a:p xmlns:a="http://schemas.openxmlformats.org/drawingml/2006/main">
            <a:r>
              <a:t>- /Users/chabing/Desktop/project/alphaearth-reproduction-main/results/gba_real/analysis_results_paper_method.json</a:t>
            </a:r>
          </a:p>
          <a:p xmlns:a="http://schemas.openxmlformats.org/drawingml/2006/main">
            <a:r>
              <a:t>- /Users/chabing/Desktop/project/alphaearth-reproduction-main/results/guangdong_real/analysis_results_paper_method.json</a:t>
            </a:r>
          </a:p>
          <a:p xmlns:a="http://schemas.openxmlformats.org/drawingml/2006/main">
            <a:r>
              <a:t>- /Users/chabing/Desktop/project/alphaearth-reproduction-main/results/gba_real/transformer_results.json</a:t>
            </a:r>
          </a:p>
          <a:p xmlns:a="http://schemas.openxmlformats.org/drawingml/2006/main">
            <a:r>
              <a:t>- /Users/chabing/Desktop/project/alphaearth-reproduction-main/results/guangdong_real/transformer_results.json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尺度不匹配可能是结果不稳定的重要原因。ERA5-Land一个像元约11.1公里，而采样点间距约2.7公里，因此一个ERA5像元范围内可能对应16到18个采样点。这些点的AlphaEarth向量不同，但气温、降水、土壤水分等标签高度相似。随机划分时，同一粗像元内的点可能同时进入训练集和测试集，造成伪重复并使随机验证偏乐观。空间留出后，模型必须预测新的区域和环境梯度，分数就会下降。但目前这仍是需要实验验证的假设，不能把所有差异都归因于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https://developers.google.com/earth-engine/datasets/catalog/ECMWF_ERA5_LAND_MONTHLY_AGGR</a:t>
            </a:r>
          </a:p>
          <a:p xmlns:a="http://schemas.openxmlformats.org/drawingml/2006/main">
            <a:r>
              <a:t>- /Users/chabing/Desktop/project/alphaearth-reproduction-main/data/processed/guangdong_sampling_points_0025deg.summary.json</a:t>
            </a:r>
          </a:p>
          <a:p xmlns:a="http://schemas.openxmlformats.org/drawingml/2006/main">
            <a:r>
              <a:t>- /Users/chabing/Desktop/project/alphaearth-reproduction-main/src/fetch_gba_environment_gee.py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我建议先验证数据尺度问题，再继续增加模型复杂度。第一，按ERA5原生像元编号做分组交叉验证，确保同一粗像元不会同时进入训练和测试。第二，把同一气候像元内的AlphaEarth向量聚合后重新训练，观察伪重复被消除后结果如何变化。第三，按照变量原生分辨率分组，检验分辨率越粗是否对应更大的空间损失。第四，系统改变嵌入提取窗口和空间分块大小，形成多尺度敏感性分析。希望老师指导的是，后续主评价应以常规空间分块为主，还是把按原生气候像元分组作为更严格的主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/Users/chabing/Desktop/project/alphaearth-reproduction-main/src/run_gba_quality_audit.py</a:t>
            </a:r>
          </a:p>
          <a:p xmlns:a="http://schemas.openxmlformats.org/drawingml/2006/main">
            <a:r>
              <a:t>- /Users/chabing/Desktop/project/alphaearth-reproduction-main/src/run_gba_spatial_sensitivity.py</a:t>
            </a:r>
          </a:p>
          <a:p xmlns:a="http://schemas.openxmlformats.org/drawingml/2006/main">
            <a:r>
              <a:t>- /Users/chabing/Desktop/project/alphaearth-reproduction-main/results/gba_real/quality_audit_results.json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f0e58bd0f4d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dcb961a8f94597" /><Relationship Type="http://schemas.openxmlformats.org/officeDocument/2006/relationships/slideLayout" Target="/ppt/slideLayouts/slideLayout1.xml" Id="Rfa16c87a8ddc46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6c87a8ddc46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a2159cc444603" /><Relationship Type="http://schemas.openxmlformats.org/officeDocument/2006/relationships/notesSlide" Target="/ppt/notesSlides/notesSlide1.xml" Id="R2f794241c606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153e14dd4ed5" /><Relationship Type="http://schemas.openxmlformats.org/officeDocument/2006/relationships/notesSlide" Target="/ppt/notesSlides/notesSlide2.xml" Id="Rdc9480624c6d49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d1974aa4045d4" /><Relationship Type="http://schemas.openxmlformats.org/officeDocument/2006/relationships/chart" Target="/ppt/slides/charts/chart1.xml" Id="R9eb5a1f43b744d7c" /><Relationship Type="http://schemas.openxmlformats.org/officeDocument/2006/relationships/chart" Target="/ppt/slides/charts/chart2.xml" Id="R7c6d73821c8e43a6" /><Relationship Type="http://schemas.openxmlformats.org/officeDocument/2006/relationships/notesSlide" Target="/ppt/notesSlides/notesSlide3.xml" Id="Rca3b12968baa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64f15fa9f4de4" /><Relationship Type="http://schemas.openxmlformats.org/officeDocument/2006/relationships/notesSlide" Target="/ppt/notesSlides/notesSlide4.xml" Id="R8cd73de0b48f4d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bba550c141d8" /><Relationship Type="http://schemas.openxmlformats.org/officeDocument/2006/relationships/notesSlide" Target="/ppt/notesSlides/notesSlide5.xml" Id="R3723c1c8c8b4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a7be1a9244415" /><Relationship Type="http://schemas.openxmlformats.org/officeDocument/2006/relationships/image" Target="/ppt/media/image.png" Id="Rf2e49e8d4bc44e23" /><Relationship Type="http://schemas.openxmlformats.org/officeDocument/2006/relationships/notesSlide" Target="/ppt/notesSlides/notesSlide6.xml" Id="R2ac4c41c65d34a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a3ef94f634656" /><Relationship Type="http://schemas.openxmlformats.org/officeDocument/2006/relationships/notesSlide" Target="/ppt/notesSlides/notesSlide7.xml" Id="R469767042173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873d23f954c0a" /><Relationship Type="http://schemas.openxmlformats.org/officeDocument/2006/relationships/notesSlide" Target="/ppt/notesSlides/notesSlide8.xml" Id="Rcd0f83b57f744d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fd055d2e0417e" /><Relationship Type="http://schemas.openxmlformats.org/officeDocument/2006/relationships/notesSlide" Target="/ppt/notesSlides/notesSlide9.xml" Id="R198b4f94eac442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87de321484dfb" /><Relationship Type="http://schemas.openxmlformats.org/officeDocument/2006/relationships/notesSlide" Target="/ppt/notesSlides/notesSlide10.xml" Id="R36970f05425c46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ea9c6fed2425d" /><Relationship Type="http://schemas.openxmlformats.org/officeDocument/2006/relationships/chart" Target="/ppt/slides/charts/chart3.xml" Id="Re70cfe862cf14592" /><Relationship Type="http://schemas.openxmlformats.org/officeDocument/2006/relationships/chart" Target="/ppt/slides/charts/chart4.xml" Id="R875047de02034eee" /><Relationship Type="http://schemas.openxmlformats.org/officeDocument/2006/relationships/chart" Target="/ppt/slides/charts/chart5.xml" Id="R5bc4a302b12e4735" /><Relationship Type="http://schemas.openxmlformats.org/officeDocument/2006/relationships/notesSlide" Target="/ppt/notesSlides/notesSlide11.xml" Id="R01aaae42b19d4f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67973331842b7" /><Relationship Type="http://schemas.openxmlformats.org/officeDocument/2006/relationships/notesSlide" Target="/ppt/notesSlides/notesSlide12.xml" Id="Rcea164356a8341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97f18ff3d4c25" /><Relationship Type="http://schemas.openxmlformats.org/officeDocument/2006/relationships/notesSlide" Target="/ppt/notesSlides/notesSlide13.xml" Id="R55bee0f91e30463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8"/>
              <c:pt idx="0">
                <c:v>露点温度</c:v>
              </c:pt>
              <c:pt idx="1">
                <c:v>平均气温</c:v>
              </c:pt>
              <c:pt idx="2">
                <c:v>日间LST</c:v>
              </c:pt>
              <c:pt idx="3">
                <c:v>高程</c:v>
              </c:pt>
              <c:pt idx="4">
                <c:v>夜间LST</c:v>
              </c:pt>
              <c:pt idx="5">
                <c:v>NDVI</c:v>
              </c:pt>
              <c:pt idx="6">
                <c:v>EVI</c:v>
              </c:pt>
              <c:pt idx="7">
                <c:v>树木覆盖</c:v>
              </c:pt>
            </c:strLit>
          </c:cat>
          <c:val>
            <c:numLit>
              <c:formatCode>0</c:formatCode>
              <c:ptCount val="8"/>
              <c:pt idx="0">
                <c:v>97</c:v>
              </c:pt>
              <c:pt idx="1">
                <c:v>97</c:v>
              </c:pt>
              <c:pt idx="2">
                <c:v>96</c:v>
              </c:pt>
              <c:pt idx="3">
                <c:v>96</c:v>
              </c:pt>
              <c:pt idx="4">
                <c:v>96</c:v>
              </c:pt>
              <c:pt idx="5">
                <c:v>94</c:v>
              </c:pt>
              <c:pt idx="6">
                <c:v>94</c:v>
              </c:pt>
              <c:pt idx="7">
                <c:v>93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变量数</c:v>
          </c:tx>
          <c:spPr>
            <a:solidFill xmlns:a="http://schemas.openxmlformats.org/drawingml/2006/main">
              <a:srgbClr val="218C84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12</c:v>
              </c:pt>
              <c:pt idx="1">
                <c:v>14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日间LST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96</c:v>
              </c:pt>
              <c:pt idx="1">
                <c:v>94</c:v>
              </c:pt>
              <c:pt idx="2">
                <c:v>94</c:v>
              </c:pt>
              <c:pt idx="3">
                <c:v>93</c:v>
              </c:pt>
              <c:pt idx="4">
                <c:v>96</c:v>
              </c:pt>
              <c:pt idx="5">
                <c:v>97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日间LST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90.5</c:v>
              </c:pt>
              <c:pt idx="1">
                <c:v>81.7</c:v>
              </c:pt>
              <c:pt idx="2">
                <c:v>82.6</c:v>
              </c:pt>
              <c:pt idx="3">
                <c:v>70.2</c:v>
              </c:pt>
              <c:pt idx="4">
                <c:v>78.8</c:v>
              </c:pt>
              <c:pt idx="5">
                <c:v>81.6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6"/>
              <c:pt idx="0">
                <c:v>高程</c:v>
              </c:pt>
              <c:pt idx="1">
                <c:v>NDVI</c:v>
              </c:pt>
              <c:pt idx="2">
                <c:v>EVI</c:v>
              </c:pt>
              <c:pt idx="3">
                <c:v>树木覆盖</c:v>
              </c:pt>
              <c:pt idx="4">
                <c:v>日间LST</c:v>
              </c:pt>
              <c:pt idx="5">
                <c:v>平均气温</c:v>
              </c:pt>
            </c:strLit>
          </c:cat>
          <c:val>
            <c:numLit>
              <c:formatCode>0</c:formatCode>
              <c:ptCount val="6"/>
              <c:pt idx="0">
                <c:v>91.2</c:v>
              </c:pt>
              <c:pt idx="1">
                <c:v>77.9</c:v>
              </c:pt>
              <c:pt idx="2">
                <c:v>72.6</c:v>
              </c:pt>
              <c:pt idx="3">
                <c:v>65.1</c:v>
              </c:pt>
              <c:pt idx="4">
                <c:v>80</c:v>
              </c:pt>
              <c:pt idx="5">
                <c:v>88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12</c:v>
              </c:pt>
              <c:pt idx="1">
                <c:v>14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</c:v>
              </c:pt>
              <c:pt idx="1">
                <c:v>0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1</c:v>
              </c:pt>
              <c:pt idx="1">
                <c:v>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原论文</c:v>
          </c:tx>
          <c:spPr>
            <a:solidFill xmlns:a="http://schemas.openxmlformats.org/drawingml/2006/main">
              <a:srgbClr val="8A9098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0.9</c:v>
              </c:pt>
              <c:pt idx="1">
                <c:v>1.7</c:v>
              </c:pt>
            </c:numLit>
          </c:val>
        </c:ser>
        <c:ser>
          <c:idx val="1"/>
          <c:order val="1"/>
          <c:tx>
            <c:v>大湾区</c:v>
          </c:tx>
          <c:spPr>
            <a:solidFill xmlns:a="http://schemas.openxmlformats.org/drawingml/2006/main">
              <a:srgbClr val="D9693C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29.1</c:v>
              </c:pt>
              <c:pt idx="1">
                <c:v>21.3</c:v>
              </c:pt>
            </c:numLit>
          </c:val>
        </c:ser>
        <c:ser>
          <c:idx val="2"/>
          <c:order val="2"/>
          <c:tx>
            <c:v>广东省</c:v>
          </c:tx>
          <c:spPr>
            <a:solidFill xmlns:a="http://schemas.openxmlformats.org/drawingml/2006/main">
              <a:srgbClr val="2F70B7"/>
            </a:solidFill>
          </c:spPr>
          <c:cat>
            <c:strLit>
              <c:ptCount val="2"/>
              <c:pt idx="0">
                <c:v>随机森林</c:v>
              </c:pt>
              <c:pt idx="1">
                <c:v>Transformer</c:v>
              </c:pt>
            </c:strLit>
          </c:cat>
          <c:val>
            <c:numLit>
              <c:formatCode>0</c:formatCode>
              <c:ptCount val="2"/>
              <c:pt idx="0">
                <c:v>6.7</c:v>
              </c:pt>
              <c:pt idx="1">
                <c:v>8.7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26A74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C735F-6FF2-4F70-86B9-3E90202E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组会进展汇报 · 2026.08.24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AC95-FD7F-4B98-833B-EC0841E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AlphaEarth表征向量的</a:t>
            </a:r>
          </a:p>
          <a:p xmlns:a="http://schemas.openxmlformats.org/drawingml/2006/main">
            <a:pPr algn="l">
              <a:def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区域解释与泛化验证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1EF3F-7C63-41F2-97E4-2F4E80A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从原论文工作链条到广东区域复现：数据、证据与下一步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2F2EB-4DE3-419F-A194-CD224E8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F385A-E820-4348-B8B8-B77B81F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汇报人：Xuzihan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E4BA9-A0A8-4723-8C74-75123677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4B55A-DA9B-4E4A-AC60-63C6761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57750"/>
            <a:ext cx="1905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931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700AA0F-FF55-4CBF-8CEF-FDE75B6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原论文不是只训练模型，而是建立从解释到应用的完整链条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43C8B-1EBB-4B8B-930D-7AFEE3C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F7C89-5860-44D2-906B-B0B7D2F8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研究对象：2017—2023年美国本土约1210万条样本；每条样本含64维AlphaEarth表征和26项环境变量。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951D8-909B-4672-937A-756BC84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956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7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C2D70-2CAB-40EB-9294-6506D2F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956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7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D31B4-4D0D-4B6A-AE3E-7E5CD9D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956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77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F9CCB-19B3-470A-85E6-C171FB4C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F70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99F5-0775-4985-907B-B1A3945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E7B1F-F5F8-45FF-8BAA-99EDF25B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解释表征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82EA9-EC79-4603-9957-87735AF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952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用Spearman、随机森林和Transformer，判断64维向量能否表达温度、植被、地形等26项环境信息。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236AF-8696-4B7F-A282-C4107CDA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3355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515F6-A016-4BA5-A1F0-08930B98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716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7718E-DB6A-4691-B2F4-A425778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验证稳健性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C14AC-BD02-4D55-987A-065EB1A6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1952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采用2°空间分块与2017—2023年度比较，检验关系能否迁移到未见区域和不同年份。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872B8-168C-46A4-A0AE-2F159573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3355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15724-E8FB-49F5-AF9E-963A3DD4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716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151DA-BDCA-4D83-A943-47C89F4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28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构建知识库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2B3DD-C357-488F-853E-72DFF29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1952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形成“维度—环境含义”字典，并把约1210万条向量写入FAISS检索数据库。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6397E-E0A0-4E65-8DF1-15118CE8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3355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9525">
            <a:solidFill>
              <a:srgbClr val="B84B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F58A2-A2D1-498F-8094-D8D0C554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716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6C256-D4FD-4858-8E70-990E851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288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搭建问答系统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79636-D60F-4965-B6D8-E4DB5CEA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8000"/>
            <a:ext cx="1952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结合检索增强生成与大语言模型，回答地表环境问题；完成360轮系统评价。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99BD8-FBA7-4E21-BF34-C366F320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0553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E1366-B99F-4CB4-A648-95F4736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本项目的复现边界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CE9BD3-643D-4336-8B78-72BBC5C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97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目前重点复现前两步：环境解释与空间/时间稳健性验证；尚未复现FAISS知识库和RAG问答应用层。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C0C55-DE7A-421E-8FA9-F328C0C7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3F110-0EAD-4BD5-AE6D-4E4215CC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81423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0152B74-332F-45A1-AFA7-3B063A9E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论文结果：预测精度高，时空稳定性强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929DE-C4AA-41AE-A1DD-F6DC9188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8105-5E6B-4768-A59F-6B00ED50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左图数值按百分制显示，例如97表示R²＝0.97。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75313-4F23-48CB-A7AC-05E92D4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随机森林代表变量：随机验证 R²×100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0050" y="1752600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b5a1f43b744d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41DAB-D4BA-42E8-AB36-EF6AD6E0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R²＞0.90的变量数（共26项）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620000" y="1809750"/>
          <a:ext xmlns:a="http://schemas.openxmlformats.org/drawingml/2006/main" cx="3857625" cy="228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6d73821c8e43a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63F55-4AAE-4F4F-BF74-50B1C9B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6245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4B6F8-0A87-4D79-AC5D-53224FA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958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空间损失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1909D-1E4C-429E-8FAC-07FEE96A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10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61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RF前10项：0.009</a:t>
            </a:r>
          </a:p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Transformer：0.017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16512-7D19-42AE-948B-9272A07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6245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3338D-3E94-483B-A13F-8F4C549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958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时间稳定性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EC05D-1D05-425C-9011-9B9A4D6D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10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年度轮廓平均</a:t>
            </a:r>
          </a:p>
          <a:p xmlns:a="http://schemas.openxmlformats.org/drawingml/2006/main">
            <a:pPr algn="l">
              <a:def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r＝0.963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A37A5-5D72-498F-AEC9-F47E4121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34000"/>
            <a:ext cx="3762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9DFBC-F57E-4BE1-9D86-E562095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8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应用层：360轮评价，系统平均得分3.74/5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5C78A-6BCA-471E-AFF8-1247E601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9858D-E025-4DAD-ACE6-4CE209C9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9860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EB093F4-8182-4574-8AD9-56AD9DE6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这个项目要回答：64个抽象数字是否对应真实环境信息？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75DCC-CD82-4172-B87E-227977A9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7E961-E8C1-4E31-B431-C79D397B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AlphaEarth做了什么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AC46A-FF2E-4C03-87F1-E9B5657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572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908A5-76E3-413C-995F-FBC1D567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一个地点 × 一个年份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A23FA-E024-472E-9938-3C360BEC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57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BF605-2D8B-48FF-9864-373EF72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64维表征向量（embedding）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3DE79-A216-4814-99E8-69A3A84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它不是温度或植被指数，而是模型学习得到的64个无量纲特征。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7C3A-734D-4703-BCB5-F55DCAF9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我的工作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1FB55-D0F2-4FCE-91C2-17FD7F06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05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1A443-A752-4401-A7EC-151A732F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19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把同一地点的64维向量与26个环境变量配对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D39C7-783A-483A-9348-98B6109E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67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E6E1A-E2E0-4C7E-BC03-EAA4310E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训练模型：仅凭64维向量预测温度、植被、地形等变量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F4009-672E-44E8-B6C4-58FB0F7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218C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C686E-F9E7-4D76-AAF8-E697F55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检查哪些维度与哪些物理变量稳定相关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DF7E8-4821-4A39-A1B8-8CF68E12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9525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95415-3D2B-4C98-85E4-E5608ACE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57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比较随机留出与空间留出，判断能否迁移到未见区域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2F940-E82C-4521-A343-4ADF298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542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A3CAC-3E68-4C08-B254-6B1C6F8B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核心不是“把模型分数做高”，而是确认分数代表真实环境信息。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947204-E83F-4175-B680-D6686AA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C080F-568F-429A-83B2-297D112F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1759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62598C6-BADF-4CDE-B402-6263B1E2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每条样本由“表征向量、环境标签、位置和年份”共同组成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99C09-F692-4578-A654-5DF6C23A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4606E-9EC8-4C2E-9D61-B80B9D5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B8BBD-041D-458E-8F47-8DA59B30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B26C9-B485-41D5-9BA0-7197BC8B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30EA0-32CF-47A9-83AC-C78A0278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建立采样点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68CBE-1FFD-4C8D-A379-3AE2FC47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0.025°规则网格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记录经纬度、城市和年份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579AC-421B-4DC5-A602-427AC46F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6E5FB-5D3A-4C8A-AB98-007A8172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A8693-07E9-4941-A969-B6E5FB3F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9B2F0-FE6A-499B-918C-E24CEAFA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配对两类数据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1AA9-C09E-44E7-8999-8E89261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64维AlphaEarth向量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26个目标环境变量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310F-71C6-495D-B9F1-96F699D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ACA04-8A64-4889-90AD-DEBFCC22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2274B-D900-4032-B3AD-39B3E80E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7D974-F117-426B-A7B3-88359E7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训练解释模型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7A2CA-39FD-4B31-B55C-045999C6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相关分析、随机森林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注意力回归模型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C8B1F-A7ED-4705-9F3F-62BD10B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495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069E5-066C-4D7F-8108-91892928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C665E-E3A3-4505-9DF6-27BB5979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8120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F8CC8-8AF5-4E07-8467-635C675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验证是否可靠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0647E-88A4-496B-9AFF-6C70DDC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2047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随机交叉验证</a:t>
            </a:r>
          </a:p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空间分块与时间稳定性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66CB6-8E3B-42ED-9FD0-BFBE514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9DA7C-B45F-485D-AD41-E7780FE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2E5F7-5C79-48AD-A589-1EA9F1AE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3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9732C6-3D95-43DB-A2A7-EA2D6D8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06775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A2481-82CC-4B26-BABB-F914887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术语说明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0075B-822B-472F-989A-A8D5A172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871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表征向量＝模型学习得到的特征；目标变量＝希望预测的环境量；泛化＝模型面对未参与训练的新区域时仍能有效。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1D2EA-7F81-416E-A5DC-A1C1A61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73A6E-6902-4C51-A002-C5F17F31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2512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8CB23B8-E50F-4AEE-81EE-83641882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当前数据已从大湾区扩展到广东省21个地级市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598F1-6150-4D73-965D-EE6CBE74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C1159-7E96-40BA-AFBF-6B463A09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广东省数据概况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DD0C-CB04-439B-96D1-ECF1527C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4D20A-1444-4B35-8AD0-711735D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002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每年独立采样位置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00FED-A5B4-4B7E-AE52-D3A5939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175,875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4A068-0185-403B-A24B-A0AC599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2017—2023年总观测数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A5067-9111-49D0-AC7F-8E9FA96A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290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3458B-969F-4388-8F20-4A148142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766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每个位置按年度配对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3571D-B12D-48E4-95A4-767CA98F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672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25FDC-CE89-4439-953B-55D6C460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14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项环境变量，覆盖地形、土壤、植被、</a:t>
            </a:r>
          </a:p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气候、水文和城市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6273D-088D-435F-835B-50FCB788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16139-26F7-490F-B334-1B79B43E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一行数据＝某位置某年的64维嵌入＋26个环境变量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E5F00-3B19-4F62-836F-C15F9AB2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52550"/>
            <a:ext cx="5476875" cy="46672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49e8d4bc44e23"/>
          <a:stretch xmlns:a="http://schemas.openxmlformats.org/drawingml/2006/main"/>
        </p:blipFill>
        <p:spPr>
          <a:xfrm xmlns:a="http://schemas.openxmlformats.org/drawingml/2006/main">
            <a:off x="5762625" y="1662774"/>
            <a:ext cx="5476875" cy="4046802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A2094-0BE4-4E80-A4C1-A92E107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4AB3B4-EA8A-4B50-A961-72D1B79E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99539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9E18046-E1E2-4AA2-A83C-1691D807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“10米分辨率”只描述原始影像，不等于训练样本尺度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7BE16-CDE3-499D-AA62-691756B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11A73-ADAE-4234-9033-BD27A18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必须区分四个概念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46616-4D69-49E2-BB88-9AC357A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8BBA4-54D4-4C47-BC23-93A1564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DBCF-1FD5-459B-AC07-63941937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AEE6A-35AD-4E4F-898A-3E4EB8F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原生空间分辨率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7655F-B69B-4E7B-A825-D27E2634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AlphaEarth官方影像的原生像元为10 m × 10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66421-C266-4DCD-A566-4D2A6C64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15FE-E855-4D40-B5F0-D699B75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44A95-E19D-4E91-8828-5E42898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约1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00085-E8D6-4C04-8564-6077A225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嵌入提取尺度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CDFFD-5468-4F85-A8A8-1A02539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500 m半径缓冲，按1 km尺度提取64维均值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948B8-CC9C-43FB-9D47-95F892D9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A2A1A-836A-4A94-A61B-69AD348C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251A6-A252-493E-9C47-03689841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约2.7 km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9870B-9F07-47E8-B00D-A541554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采样点间距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E4648-B083-4FA5-9690-08DAB42A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0.025°规则网格决定样本中心之间的距离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6C541-E28D-4564-99B1-9998A16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0">
            <a:solidFill>
              <a:srgbClr val="FAEC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371FA-47CF-4988-A6FC-89C6E6B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BCAC0-3129-4DC4-9BA1-EB3BC2B7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52675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30 m—11.1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8FCEA-BBD3-4764-AB33-F5834C9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181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环境标签分辨率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51B15-5E66-45D3-8E35-06A8B98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86175"/>
            <a:ext cx="21812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不同环境产品的真实像元大小差异很大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21B34B-99C3-48A9-A097-B3CB13E4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861BA-F35B-4A92-A5EB-F3232D7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8114B-8A19-4DE2-8824-C78AB68A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0BCF0-8CCE-423D-8D0A-1E2A2F27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0925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7F6A6-0CDB-4A87-BF90-DC532A7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规范表述：GEE是处理平台；10米仅指AlphaEarth原生像元；当前单条嵌入的空间支持约1公里。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E37E4-1A5E-4BBD-8510-643BE1D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43321-12A3-4099-993A-1DD062B6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23883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74A64FC-85B0-4A40-86A8-3D7C84E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26个环境变量的原生分辨率从30米跨越到11.1公里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3F1DB-5B80-42D9-8452-2A5ECD57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D483-3439-4BC7-B6E3-2628973D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像元边长越大，空间信息越粗；重采样到10米不会产生新的局地信息。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23F00-F362-40D6-A7A6-6BE87B9A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9D199-BFEA-4A1A-B475-B7115D6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类别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D0A0F-44F7-4C24-B99E-FE7E08D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19250"/>
            <a:ext cx="3667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311FB-5A1A-4030-B8D2-82ACC93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95450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代表变量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CBD56-9789-487D-B0B1-DBF75711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19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85B9F-75B7-49A0-AE9D-84F6FCD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实际数据源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DB57B-6D8F-4E66-994A-D6F5360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619250"/>
            <a:ext cx="2971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4FAEC-F549-428A-A836-1CC10405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695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原生像元大小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2D7D0-0E67-454E-B96A-24EE7F40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212CE-30BA-41B4-BAA3-5F91737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地形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06C40-0998-4899-A86F-063713DA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5740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4C281-115B-43AF-B951-2A5625DC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高程、坡度、坡向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3A751-D6F1-4C8C-ADE3-D191EEE8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5740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7D2828-10E1-4A06-B160-578DC5BE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336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SRTM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A782D-9380-413A-BA9E-04D53031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5740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DCEC7-0E3E-4FFE-AF42-2FF1F67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3360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30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8BB87-A421-40E2-9B7D-6B61197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2C66E-E3DF-4216-9406-7ED6853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土壤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01D53-1E54-42A9-9A9C-12B9679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62225"/>
            <a:ext cx="3667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EABBD-B00D-4381-B32E-64300FB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3842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黏土、有机碳、pH、持水量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6664A-75F5-4D54-AE40-4D26B71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622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6F0D7-CF95-46A6-964C-0A52186D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38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OpenLandMap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151A2-8E8D-4E32-BD62-FEBCA651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62225"/>
            <a:ext cx="2971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4B1FD-1EC0-4CBB-82D2-A7B8B2B2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384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250 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13C01-5ECF-40A3-A065-8782342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9BF306-3245-44A8-A1C6-0DC2FE8D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A2697B-0F24-4FB8-AC91-0C555F5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33725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DC20E-1D3C-4AD0-8405-FB7A29E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9925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树木覆盖率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209A6-3B9E-49D4-98EC-9D2D26E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CCEB3-2DC8-408A-9E95-9834B9F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0992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Hansen全球森林变化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C8297-9296-47B1-85DE-5F3B0F7F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33725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B5B85B-60A5-4BBA-8D21-473D7BE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209925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约31 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2652DE-0640-4DCC-B462-0A2940F3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428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3AEA4A-67FD-4B1C-83FE-570409F3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23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60C89E-6ADF-47D6-BBD4-085F6546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3667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42DF3-9546-455D-A756-4D3888E8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14750"/>
            <a:ext cx="3476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叶面积指数、反照率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8DFDB0-A63D-4569-A575-22C1B8E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38550"/>
            <a:ext cx="285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73835E-8797-4255-AE86-BF7F65A7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D49693-65A8-4712-9C97-C38062F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638550"/>
            <a:ext cx="29718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9CB3A-CA27-4A80-8269-70D81E8C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14750"/>
            <a:ext cx="2781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500 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4AB76F-A0B1-42FF-AFE4-FB9D0997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43375"/>
            <a:ext cx="14287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20824D-285E-4A6E-9721-F6CEBF64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23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植被与地表温度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192A1E-04DC-4E04-9109-20E52F68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3667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F10F59-67C1-450D-A52C-54A3D09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9575"/>
            <a:ext cx="3476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NDVI、EVI、日间/夜间地表温度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F2ADD2-664F-41EF-B229-6379EF74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43375"/>
            <a:ext cx="2857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4AFDE2-63F6-4B5E-8D64-A8092912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19575"/>
            <a:ext cx="266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MODIS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5D5458-B617-40CE-99E3-4BDF7628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43375"/>
            <a:ext cx="29718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4448C0-9706-45E4-AF33-56D69BF8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19575"/>
            <a:ext cx="2781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 km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C33291-4D1F-40FD-BA6D-BACDCB62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DABF53-1AEA-47BF-8006-A8F75A8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96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气候与水文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2C67A4-21D8-44EB-BECD-E4725835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43450"/>
            <a:ext cx="3667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EA7004-A401-46E3-B487-C036EB6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19650"/>
            <a:ext cx="347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气温、露点、降水、土壤水分、径流、蒸散发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F4C816-8E37-4DEF-826B-2C43593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7434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B71DB1-C92C-4A4B-A104-D62B9F1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819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ERA5-Land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6E5071-606F-45D6-8A12-EBDBE78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4345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9B14B0-B227-4B7F-9C10-AC84B23E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196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约11.1 km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64741F-E871-4C65-B4C3-96564C9F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664885-43DC-4E8C-A1B9-6421EE1B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城市环境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112013-ABCB-4C34-9B2A-D2F652A0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10200"/>
            <a:ext cx="3667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AC43A3-699A-4582-8FAB-9DC65C8B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86400"/>
            <a:ext cx="347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不透水面、夜间灯光、人口密度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348BC4-E6D6-4183-A947-57AC723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4102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C7B33E-81E7-4E94-8C15-913C90E6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4864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WorldCover / VIIRS / GPW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D26368-A48D-4CDA-9AAF-5C391D0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410200"/>
            <a:ext cx="297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D903B7-45F8-4353-9EC7-33C0853B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486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10 m—1 km；</a:t>
            </a:r>
          </a:p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不透水面按500 m邻域统计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7CA24B-A896-4DA0-BBA4-82967FAD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13A9510-BB94-44DD-A9A1-8F4A9B1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78526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8853B4C-4716-4BA5-80C1-1583D2A7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核心提取口径已经对齐，样本规模、标签来源和模型容量仍不同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51ED6-748C-409D-BAD0-F8425081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967B8-3185-4EBD-978D-D84277E3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BE3D7-C4AF-4514-9306-BF8D78C1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EECE8-7B4A-42BB-9009-AB6F8B48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3525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0E759-562E-4A52-8341-E53B1A18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4287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原论文（美国本土）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AA18A-D015-4CB5-A9CC-1BE45AE3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352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0FFDC-6F09-42E6-ACCE-DDEFAA9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574CB-8C26-4B47-A6F5-A51C7798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525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A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E4D4-963B-45F2-AD6E-CBA281F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4287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4667F-01E3-492B-94BB-955D915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A46A4-27E0-4639-B134-EA98EE4E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研究范围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9FD96-D78D-4A0B-9360-394C15A1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E8BE6-7FD0-4843-B62A-717BA852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288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CONUS，美国本土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605FB-8329-4183-96F5-9BB75499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D8757-98C9-40FE-9780-4551B82F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28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11个城市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FA22E-183F-4884-901A-0F382AB7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5260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52048-F01D-4BB9-8498-FF7AE46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88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21个地级市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97DAB-C054-4159-B21A-A88E6DB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269F5-C551-4B8E-9C40-8868B950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年度记录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C9C65-8AC0-4961-9FCB-A15A5CE5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8394B-1D4B-405E-9B8D-29056D6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288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约173万/年；约1210万总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9837A-343A-4943-A14E-1260F05C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52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941C0-F950-47E9-BACC-9BC0B39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2288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7,802/年；54,614总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254ED-7E47-4F28-BBEC-7D7BF0C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5265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356FA-64CB-496E-86C3-B8C94DD3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2288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25,125/年；175,875总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30C96-65F3-4182-BEBC-D419CEC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206E2-46E3-40F3-829F-CAA593B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时间与网格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5C7B8-4458-450B-9FA7-69952FFD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479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F78B6F-BB97-413F-89ED-40EBB19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24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2017—2023；0.025°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8D4F6-C4DE-4CD7-941C-6357CA4D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47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F1ACEC-BAA7-46A1-BA02-35D8C9E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64F7BA-CC28-485D-B546-1B828D73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47950"/>
            <a:ext cx="3067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9F52B-A6A6-4F16-A903-85F5812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241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15AA06-9AED-4166-A092-E9304FDB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A77E2-B059-455D-BC69-4FE6EE2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AlphaEarth提取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CC503D-BFAD-4352-A8E8-04D396F0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480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F451F-0484-457D-A954-D8786B75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64维；1 km；500 m缓冲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5E34E9-3B54-408F-BCDC-DCEF963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480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7A4B1B-4E96-4302-A301-616DB402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24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6DC0F3-1987-4A7A-B529-AB0D1D46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480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EC97A8-02FE-4A94-824B-796E3F1D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相同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780AB9-DD99-4716-906C-2A83B008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695042-22E7-447C-80D5-B6DE16F9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气温与降水标签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B78AA8-40F2-4B3C-B3C2-D3717E3C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3190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2D6D46-2AEE-494C-84A1-7E21F491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814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PRISM，约4 km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495AC0-1C4B-47DB-A22D-2253B144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052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3024CB-5AA6-427E-AF82-BC9862EB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81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5FF62D-8F35-4DB8-9261-58C7AB87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505200"/>
            <a:ext cx="3067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D86EE0-211B-4436-B2A7-52C4CB3C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5814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CD55A1-F4C7-461F-913F-A34D8CD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67804E-4427-4A8B-8315-141F6C78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水文标签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01DD7C-BD5B-4053-A24F-70724A6C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005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C96E2B-498E-44E0-8C4F-DC2BE38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767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ERA5-Land，约11 km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12A3A7-3A54-4E19-8432-768BA61B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0005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EC4402-547A-4B54-BEF5-5C72D5E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767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068A5A-2B44-4018-9E66-9EE72AF5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D53150-41DE-40DC-8E49-F6932FE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767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ERA5-Land，约11.1 km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813E60-73E5-4172-A2FB-51B4FC8E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5BE401-F1BF-4165-8733-89A49B8F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随机森林训练量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1905E6-B10A-407C-98D2-5AEFE4F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5770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2C923E-5B73-4C81-B4B7-80565D91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每个变量最多70万条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7E7CCA-CE10-4DAC-8FF7-F029CB9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577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5693F5-BFFD-4A70-A2C4-91E80C93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33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7FFB38-F09E-45C8-B557-A3775EC3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577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11943D-5194-47F0-AB06-4053951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5339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每个变量最多3万条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769D95-16F0-41DD-8F5A-A0D3E28F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6A172E-5032-4D54-A85B-89C6F20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Transformer规模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C9F458-F363-4FC3-B3F9-D209EB2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479897-2402-4256-AD8C-845F538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9911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500万条；4层8头；60轮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9F1ED3-D4A7-4F59-BDFF-B5E2378D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9149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C904CCB-283E-4BB2-A4DC-249059CE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911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BCD8DF-B1EE-4BF4-99F9-8B4C8CB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14900"/>
            <a:ext cx="3067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593314-ACE0-477B-A242-83DC3CB9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9911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3万条；2层4头；12轮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53FE1E-B734-42DF-95EC-318209F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30FC61-38E3-41FC-9471-866F7AB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空间交叉验证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4EF63C-D80B-4530-8F67-BCBE6FD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29250"/>
            <a:ext cx="3190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D9FCBF-DC18-49E1-B7AF-02387AB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054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55C65"/>
                </a:solidFill>
                <a:latin typeface="Hiragino Sans GB"/>
                <a:ea typeface="Hiragino Sans GB"/>
                <a:cs typeface="Hiragino Sans GB"/>
              </a:rPr>
              <a:t>2°×2°分块；5折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0C6634-A3EE-4AEF-B434-2B30C38B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4292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25E14B-B2E0-4A1C-8240-6C2FD62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50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E39D9EF-55EE-40B0-825E-811C557A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4292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07E965-2F0C-43FA-8CC5-FC881460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5054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0.5°×0.5°分块；5折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D299F0-67E6-443F-9052-4C7DCA08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53125"/>
            <a:ext cx="10925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D45F19-002A-4EB3-BC91-A67311F6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结论边界：这是区域方法复现，不是等样本、等标签、等模型条件下的数值复现。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412A2AE-A5FF-4B04-B767-C434631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F1EA71-EFD0-4D33-AC15-69769F59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55185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076F754-36C5-4C0C-B4BE-A37527C4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四类分析分别回答“相关、可预测、可解释、可迁移”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271EA-FC97-4A3B-ABEC-FA8DA49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00E7D-4B2B-42E2-946C-6F08D5AA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EFB1E-FE19-40D4-AD7C-E64E3755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1E990-B631-404B-9511-76D769DE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1F554-2E3C-4358-9523-70DA810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相关分析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27FF8-50BE-4B2C-8C8F-42E5556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Spearman秩相关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921DD-3684-4A9D-85A5-59DD21C3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寻找单个表征维度与环境变量之间的单调关系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BD9AB-4A3D-405F-9C49-05EEC0E7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E180B-16B5-45DF-890B-2C355379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0">
            <a:solidFill>
              <a:srgbClr val="218C8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622E8-B50E-46C3-9294-52AC30DE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EC7D6-1925-4080-9229-543A6A74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随机森林回归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72AFF-5A8D-457A-B258-BDBA53E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非线性预测模型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1D469-2D8C-4E54-9D10-9CCECDF5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用全部64维预测每个环境变量，并计算变量重要性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87266-A1F8-462A-9960-FDCB8EF0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9235B-B49A-4C13-941D-5919106F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5EDE7-2B80-4184-8E4E-C9EEAD2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EDD1F-337A-4C8F-8940-E4C90FC5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注意力回归模型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9701F-E550-4D83-A318-F715E7BB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紧凑Transformer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D36E5-196B-4B35-98B1-31214D0F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检验多维联合关系，并与随机森林的解释进行比较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33E31-0365-49F4-8464-2B1C9834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289AAC-2F64-40AE-B384-BC961A2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B"/>
          </a:solidFill>
          <a:ln xmlns:a="http://schemas.openxmlformats.org/drawingml/2006/main" w="0">
            <a:solidFill>
              <a:srgbClr val="B8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E5469-93CF-4F01-B2CA-FF333EC7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F03CC-B02D-4D38-A25D-3E114DC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交叉验证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83593-8D05-40B9-990B-4267A2CD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随机留出与空间留出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C27521-1CEE-4B36-91A2-CC22570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比较模型对普通测试样本和未见区域的预测能力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C925F-4541-4884-BE35-8A4B732C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1091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7662C-ADAC-4D52-9CA7-5D3E68D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决定系数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3E02E-2332-4B25-86CD-239D166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越接近1，预测越准确；接近0表示与直接使用均值相近。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4CEF9-DDC6-49AA-A72E-5162A48E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空间损失 ΔR²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50A13-B031-4C55-BB80-3E77C428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随机验证R²－空间验证R²；越小表示区域迁移越稳定。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00033-CAF5-4A27-8172-E51A58EC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5DBB21-88A7-4879-B935-CA5483B8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70827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A7E784EB-0502-4481-A356-7263C05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论文的强预测尚未复现，但广东省扩展明显改善空间泛化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3E55F-478C-43F7-8148-430E2E52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C2376-079D-4980-92B1-69B77A26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098"/>
          </a:solidFill>
          <a:ln xmlns:a="http://schemas.openxmlformats.org/drawingml/2006/main" w="0">
            <a:solidFill>
              <a:srgbClr val="8A90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675EA-BDF3-4879-B330-03C06A30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原论文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50D72-A0BA-40D0-95F5-3964763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93C"/>
          </a:solidFill>
          <a:ln xmlns:a="http://schemas.openxmlformats.org/drawingml/2006/main" w="0">
            <a:solidFill>
              <a:srgbClr val="D969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27646-2EFA-4903-91CF-7F7F962E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大湾区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BE7FE-E6DC-4B72-9BF3-6CD1D0EB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219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0">
            <a:solidFill>
              <a:srgbClr val="2F70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25606-9434-4601-BB15-67A52FCE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71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广东省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B92D9-EC06-4272-97D7-DE0CC953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代表变量随机验证 R²×100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71161-952D-4924-B8F4-DD6192E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4859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90表示R²＝0.90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00050" y="1743075"/>
          <a:ext xmlns:a="http://schemas.openxmlformats.org/drawingml/2006/main" cx="6762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0cfe862cf14592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AC0A1-41CA-47A4-939F-0607714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R²＞0.90变量数（共26项）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7477125" y="1752600"/>
          <a:ext xmlns:a="http://schemas.openxmlformats.org/drawingml/2006/main" cx="4095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5047de02034eee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C6548-1D2B-4D72-AF24-EC489DA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空间损失 ΔR²（百分点，越低越好）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7477125" y="4067175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c4a302b12e4735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66B4B-81D9-4C6D-AF18-C1F07850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245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RF：0.9 / 29.1 / 6.7　　Transformer：1.7 / 21.3 / 8.7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5CB02-0BB7-4452-A49A-C9614103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925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8244C-9894-4869-97EB-504B3E62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429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阶段判断：相关信号存在；论文级强预测尚未复现；扩大到广东省主要改善了空间泛化。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EA696-5466-4620-AC51-46FDB3A1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BFEE9-E06D-441B-BD88-2C4EE474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70062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36B3DE8E-5F92-4904-943B-AF02837B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气候标签过粗，可能同时抬高随机验证并削弱空间泛化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1CD2C-8B24-420C-B266-4F2ABBC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2E943-B30F-414A-98D9-BC9933F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一个ERA5-Land像元：约11.1 km × 11.1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7AA2C-A207-451C-ACE0-4BD1917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EC"/>
          </a:solidFill>
          <a:ln xmlns:a="http://schemas.openxmlformats.org/drawingml/2006/main" w="19050">
            <a:solidFill>
              <a:srgbClr val="B84B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007FA-C8D9-44B6-92CE-7B3B48B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1CD78-684A-4D4F-94EA-93AB1B38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72F4C-5053-49E1-B57D-9FA46F7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F2E4-BB39-4532-923B-0DA1A759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EB490-737D-4EA7-8DD1-08722B4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0CAF6-5152-4595-8DAB-7FB68C4D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45917-1E64-4989-BE57-662BB6BA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57387-D8F6-46F7-8424-F54787E9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FF4BF-1151-49AF-A466-2000BAB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26592-2572-42B4-BF5D-12C49A20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F7C8E-8A9F-496F-975D-89194A8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CB9C7-0F00-4253-A09A-2EEDA1EC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7FF02-D8D6-468F-9448-EF999DE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47D4-CD7B-427B-B366-D422820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EC1DD-F35B-4D77-BBDF-5FEFEAB4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C8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B82F5B-3487-4963-99DE-7FD1E33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81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0B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AF5E5-605E-46F3-A854-28A7E76D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约16—18个采样点可能来自同一粗气候像元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EF41C-4231-470E-8B8A-743EA1FC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每个点有不同的AlphaEarth向量，但气温、降水等标签高度相似。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0447F-6668-4052-B1B4-31AC7DF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52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67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C9CED4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837EF-5EEF-496C-AE68-2F97754F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EAF3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1053DB-981A-48C6-A1EA-FA9E6C99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随机交叉验证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8F562-A55B-49E1-93AB-50F4D1B1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同一粗像元内的点可能同时出现在训练集和测试集，模型容易利用共同的空间梯度，测试分数可能偏乐观。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3397E6-AB5F-416B-A792-D8654D28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0">
            <a:solidFill>
              <a:srgbClr val="FFF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54B306-9FAA-4018-8246-61A254F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空间分块交叉验证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936A9-A802-4CC3-8CCD-3CDE9F2B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291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整片区域被留出后，共享标签和邻近信息减少，模型必须迁移到新的环境梯度，因此分数更容易下降。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89598-0AC2-4AE5-BA9F-4DE374B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72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1506F-594D-45A3-B18A-D8C7A34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76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这是待验证假设，不能在补充实验前直接作为唯一原因。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A0951-4C15-49AC-8B18-9727BC2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F4F47-2F4A-4B1D-8BCB-EB27297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49956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B4D8EB68-ABD6-46C7-A284-11573DCC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下一阶段先验证数据尺度，再继续扩展模型和应用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9CF46-D79E-48AA-AAB4-A179441A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C9CE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44D9-B2D6-4C34-81C5-6811D12F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F70B7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8C7CA-7BFD-43E2-AB2E-1D8CFFA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3350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D3B13-F975-41F7-8354-B01A7D66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95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按ERA5原生像元分组验证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51DE4-D946-4060-8321-5BE3586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7637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同一个11.1公里像元不能同时进入训练集和测试集，消除伪重复。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79039-1FCD-46BD-9EB1-072B345B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376DD-1745-4C9E-8E18-63355362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43324-0C6A-438B-8A45-1B5D826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95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将嵌入聚合到标签尺度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7644A-F902-4726-A229-141972CC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比较“一个采样点一条记录”和“一个气候像元一条记录”的结果。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130250-4EFB-4448-A8EE-E6735A6B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9693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988AE-B587-4CF3-A17C-B4B00AB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F0436-277A-40D1-9BDF-9D6C914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按原生分辨率分组比较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B3A33-F349-4C18-9A91-8DFA3A64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检验30米、500米、1公里和11公里变量的空间损失是否系统不同。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9E7B2-B5AC-4893-8C20-812B661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B84B4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00EC7C-C6E1-4891-8ABC-947E7D4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858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4CD6C-6757-451B-B83C-DD039944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9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完成多尺度敏感性分析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F889A-7803-4E1E-A9B9-29039E70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614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改变提取窗口和空间分块尺度，确定结论在哪些尺度上稳定。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6F3CB-8CEF-42D5-8248-48F82779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925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solidFill>
              <a:srgbClr val="E7F3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3D2AE-3E1C-4F8C-B8CB-06BCB94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8C84"/>
                </a:solidFill>
                <a:latin typeface="Hiragino Sans GB"/>
                <a:ea typeface="Hiragino Sans GB"/>
                <a:cs typeface="Hiragino Sans GB"/>
              </a:rPr>
              <a:t>希望讨论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44E34-5501-4629-BB66-A7522EE2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11315"/>
                </a:solidFill>
                <a:latin typeface="Hiragino Sans GB"/>
                <a:ea typeface="Hiragino Sans GB"/>
                <a:cs typeface="Hiragino Sans GB"/>
              </a:rPr>
              <a:t>主评价应优先采用“空间分块”还是“按原生气候像元分组”的交叉验证？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2FB46-E2F9-4FEB-81B7-22DB236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AlphaEarth区域解释与泛化验证 · 组会进展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8F808-79C6-4684-971B-7EEEB26E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26A74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6455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2026-08-24T05:46:39.6890000Z</dcterms:created>
  <dcterms:modified xsi:type="dcterms:W3CDTF">2026-08-24T05:46:39.6890000Z</dcterms:modified>
</coreProperties>
</file>