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63985bcee84d7d" /><Relationship Type="http://schemas.openxmlformats.org/officeDocument/2006/relationships/extended-properties" Target="/docProps/app.xml" Id="R18833e86ef1548aa" /><Relationship Type="http://schemas.openxmlformats.org/officeDocument/2006/relationships/officeDocument" Target="/ppt/presentation.xml" Id="Re0efac090aba48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b7fb38c4c7444b"/>
  </p:sldMasterIdLst>
  <p:notesMasterIdLst>
    <p:notesMasterId xmlns:r="http://schemas.openxmlformats.org/officeDocument/2006/relationships" r:id="Rd53c068fcabc4dd8"/>
  </p:notesMasterIdLst>
  <p:sldIdLst>
    <p:sldId xmlns:r="http://schemas.openxmlformats.org/officeDocument/2006/relationships" id="256" r:id="R00b4d2da23fc43ea"/>
    <p:sldId xmlns:r="http://schemas.openxmlformats.org/officeDocument/2006/relationships" id="257" r:id="R5be460fd7c3f4a71"/>
    <p:sldId xmlns:r="http://schemas.openxmlformats.org/officeDocument/2006/relationships" id="258" r:id="R211f82f56aa444c1"/>
    <p:sldId xmlns:r="http://schemas.openxmlformats.org/officeDocument/2006/relationships" id="259" r:id="Rec3b966a16064343"/>
    <p:sldId xmlns:r="http://schemas.openxmlformats.org/officeDocument/2006/relationships" id="260" r:id="R157041ecf4e54105"/>
    <p:sldId xmlns:r="http://schemas.openxmlformats.org/officeDocument/2006/relationships" id="261" r:id="Rc45334d288334dfd"/>
    <p:sldId xmlns:r="http://schemas.openxmlformats.org/officeDocument/2006/relationships" id="262" r:id="Rce12d6fd48454ab9"/>
    <p:sldId xmlns:r="http://schemas.openxmlformats.org/officeDocument/2006/relationships" id="263" r:id="Rd4144776bc9142e1"/>
    <p:sldId xmlns:r="http://schemas.openxmlformats.org/officeDocument/2006/relationships" id="264" r:id="R97c2bcf74d4549b8"/>
    <p:sldId xmlns:r="http://schemas.openxmlformats.org/officeDocument/2006/relationships" id="265" r:id="R286ad0ad31bd4b0a"/>
    <p:sldId xmlns:r="http://schemas.openxmlformats.org/officeDocument/2006/relationships" id="266" r:id="Rac2cd6e0518e41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076768758d417a" /><Relationship Type="http://schemas.openxmlformats.org/officeDocument/2006/relationships/slideMaster" Target="/ppt/slideMasters/slideMaster1.xml" Id="R89b7fb38c4c7444b" /><Relationship Type="http://schemas.openxmlformats.org/officeDocument/2006/relationships/notesMaster" Target="/ppt/notesMasters/notesMaster1.xml" Id="Rd53c068fcabc4dd8" /><Relationship Type="http://schemas.openxmlformats.org/officeDocument/2006/relationships/presProps" Target="/ppt/presProps.xml" Id="Rc9fd9c374690448f" /><Relationship Type="http://schemas.openxmlformats.org/officeDocument/2006/relationships/tableStyles" Target="/ppt/tableStyles.xml" Id="R423216b32f424d11" /><Relationship Type="http://schemas.openxmlformats.org/officeDocument/2006/relationships/slide" Target="/ppt/slides/slide1.xml" Id="R00b4d2da23fc43ea" /><Relationship Type="http://schemas.openxmlformats.org/officeDocument/2006/relationships/slide" Target="/ppt/slides/slide2.xml" Id="R5be460fd7c3f4a71" /><Relationship Type="http://schemas.openxmlformats.org/officeDocument/2006/relationships/slide" Target="/ppt/slides/slide3.xml" Id="R211f82f56aa444c1" /><Relationship Type="http://schemas.openxmlformats.org/officeDocument/2006/relationships/slide" Target="/ppt/slides/slide4.xml" Id="Rec3b966a16064343" /><Relationship Type="http://schemas.openxmlformats.org/officeDocument/2006/relationships/slide" Target="/ppt/slides/slide5.xml" Id="R157041ecf4e54105" /><Relationship Type="http://schemas.openxmlformats.org/officeDocument/2006/relationships/slide" Target="/ppt/slides/slide6.xml" Id="Rc45334d288334dfd" /><Relationship Type="http://schemas.openxmlformats.org/officeDocument/2006/relationships/slide" Target="/ppt/slides/slide7.xml" Id="Rce12d6fd48454ab9" /><Relationship Type="http://schemas.openxmlformats.org/officeDocument/2006/relationships/slide" Target="/ppt/slides/slide8.xml" Id="Rd4144776bc9142e1" /><Relationship Type="http://schemas.openxmlformats.org/officeDocument/2006/relationships/slide" Target="/ppt/slides/slide9.xml" Id="R97c2bcf74d4549b8" /><Relationship Type="http://schemas.openxmlformats.org/officeDocument/2006/relationships/slide" Target="/ppt/slides/slide10.xml" Id="R286ad0ad31bd4b0a" /><Relationship Type="http://schemas.openxmlformats.org/officeDocument/2006/relationships/slide" Target="/ppt/slides/slide11.xml" Id="Rac2cd6e0518e41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e80c440ed745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7c85c3345e420d" /><Relationship Type="http://schemas.openxmlformats.org/officeDocument/2006/relationships/notesMaster" Target="/ppt/notesMasters/notesMaster1.xml" Id="R41870730c91745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ad200638dc471f" /><Relationship Type="http://schemas.openxmlformats.org/officeDocument/2006/relationships/notesMaster" Target="/ppt/notesMasters/notesMaster1.xml" Id="Redcefc74f5d640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9b02f0f7f1487c" /><Relationship Type="http://schemas.openxmlformats.org/officeDocument/2006/relationships/notesMaster" Target="/ppt/notesMasters/notesMaster1.xml" Id="Rcb2bf33b84754a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0c3d63f36b408e" /><Relationship Type="http://schemas.openxmlformats.org/officeDocument/2006/relationships/notesMaster" Target="/ppt/notesMasters/notesMaster1.xml" Id="R334d12c0e77b49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aa622683f84732" /><Relationship Type="http://schemas.openxmlformats.org/officeDocument/2006/relationships/notesMaster" Target="/ppt/notesMasters/notesMaster1.xml" Id="R85eeaef17f6143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17f183fdfc42ac" /><Relationship Type="http://schemas.openxmlformats.org/officeDocument/2006/relationships/notesMaster" Target="/ppt/notesMasters/notesMaster1.xml" Id="R9aba9aafa75c49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edeba88b11445d" /><Relationship Type="http://schemas.openxmlformats.org/officeDocument/2006/relationships/notesMaster" Target="/ppt/notesMasters/notesMaster1.xml" Id="R2d4a1901d3d240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29463e15d141c1" /><Relationship Type="http://schemas.openxmlformats.org/officeDocument/2006/relationships/notesMaster" Target="/ppt/notesMasters/notesMaster1.xml" Id="Rd66ef78caa7146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d409f7a34e481d" /><Relationship Type="http://schemas.openxmlformats.org/officeDocument/2006/relationships/notesMaster" Target="/ppt/notesMasters/notesMaster1.xml" Id="R8d2fa24d5c6145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f9cc6a4917408f" /><Relationship Type="http://schemas.openxmlformats.org/officeDocument/2006/relationships/notesMaster" Target="/ppt/notesMasters/notesMaster1.xml" Id="R486a17d0e21d43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6938958eda4ce8" /><Relationship Type="http://schemas.openxmlformats.org/officeDocument/2006/relationships/notesMaster" Target="/ppt/notesMasters/notesMaster1.xml" Id="R54ef6bd297d74d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同学好。今天我汇报的是AlphaEarth表征向量在区域尺度上的可解释性和泛化验证。为了让第一次接触这个项目的老师也能理解，我会先说明项目究竟在做什么，再解释数据如何构建，特别区分原生分辨率、提取尺度、采样间距和环境标签分辨率，最后汇报大湾区与广东省的结果以及下一步验证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/Users/chabing/Desktop/project/alphaearth-reproduction-main/README.md</a:t>
            </a:r>
          </a:p>
          <a:p xmlns:a="http://schemas.openxmlformats.org/drawingml/2006/main">
            <a:r>
              <a:t>- https://arxiv.org/pdf/2602.10354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phaEarth会把某个地点在某一年的多源遥感信息压缩成64个数字，称为64维表征向量。这里的表征向量不是直接的温度、降水或植被指数，而是一组由模型学习得到的抽象特征。我的工作是把这64个数字与同一地点、同一年对应的26个环境变量配对，然后回答三个问题：第一，能否从这64个数字重建环境变量；第二，哪些维度具有稳定的物理含义；第三，模型在新区域还能不能保持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https://developers.google.com/earth-engine/datasets/catalog/GOOGLE_SATELLITE_EMBEDDING_V1_ANNUAL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处理可以分成四步。第一，在研究区建立规则采样点。第二，为每个采样点和年份配对AlphaEarth的64维表征向量与26个环境变量。第三，使用相关分析、随机森林回归和基于注意力机制的回归模型分析两者关系。第四，分别做随机交叉验证、空间分块交叉验证和年度稳定性检验。这里需要明确三个术语：目标变量是要预测的环境量；解释性是维度与物理变量之间是否有稳定关系；泛化是模型在没见过的区域是否仍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  <a:p xmlns:a="http://schemas.openxmlformats.org/drawingml/2006/main">
            <a:r>
              <a:t>- /Users/chabing/Desktop/project/alphaearth-reproduction-main/src/run_gba_transformer.py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经完成从大湾区到广东省的扩展。广东省覆盖21个地级市，每年有25125个独立位置，2017到2023年共175875条观测。这里的一条观测不是一张影像，而是某个采样位置在某一年的一行表格，包含64个AlphaEarth特征、26个环境变量、经纬度、城市和年份。规则网格的间距是0.025度，在广东纬度大约相当于东西2.6公里、南北2.8公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/Users/chabing/Desktop/project/alphaearth-reproduction-main/data/processed/guangdong_sampling_points_0025deg.summary.json</a:t>
            </a:r>
          </a:p>
          <a:p xmlns:a="http://schemas.openxmlformats.org/drawingml/2006/main">
            <a:r>
              <a:t>- /Users/chabing/Desktop/project/alphaearth-reproduction-main/results/guangdong_real/guangdong_sampling_coverage.png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决最容易混淆的问题。官方AlphaEarth影像的原生空间分辨率是10米，但我们并没有把每个10米像元作为一条训练样本。严格版按照论文方法，对每个采样点建立500米半径缓冲区，并以1公里计算尺度提取64维向量。因此单条嵌入观测的空间支持范围约为1公里。采样点中心之间又相隔约2.7公里。最后，监督标签来自不同环境产品，原生像元从30米到11.1公里不等。这四个尺度不能统一叫做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https://developers.google.com/earth-engine/datasets/catalog/GOOGLE_SATELLITE_EMBEDDING_V1_ANNUAL</a:t>
            </a:r>
          </a:p>
          <a:p xmlns:a="http://schemas.openxmlformats.org/drawingml/2006/main">
            <a:r>
              <a:t>- /Users/chabing/Desktop/project/alphaearth-reproduction-main/src/fetch_gba_embeddings_gee.py</a:t>
            </a:r>
          </a:p>
          <a:p xmlns:a="http://schemas.openxmlformats.org/drawingml/2006/main">
            <a:r>
              <a:t>- /Users/chabing/Desktop/project/alphaearth-reproduction-main/data/processed/gba_aef_gee_1km_2017_2023.provenance.json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督标签的原生分辨率差异很大。地形数据大约30米，土壤250米，叶面积指数和反照率500米，NDVI、EVI和地表温度约1公里。最粗的是ERA5-Land气候和水文数据，像元边长约11.1公里。当前代码为了统一提取，先进行双线性重采样再取点，但这只是把粗网格插值到更细的输出网格，不会产生新的10米气候信息。因此在解释结果时，应以原始数据源的分辨率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  <a:p xmlns:a="http://schemas.openxmlformats.org/drawingml/2006/main">
            <a:r>
              <a:t>- https://developers.google.com/earth-engine/datasets/catalog/ECMWF_ERA5_LAND_MONTHLY_AGGR</a:t>
            </a:r>
          </a:p>
          <a:p xmlns:a="http://schemas.openxmlformats.org/drawingml/2006/main">
            <a:r>
              <a:t>- https://developers.google.com/earth-engine/datasets/catalog/USGS_SRTMGL1_003</a:t>
            </a:r>
          </a:p>
          <a:p xmlns:a="http://schemas.openxmlformats.org/drawingml/2006/main">
            <a:r>
              <a:t>- https://developers.google.com/earth-engine/datasets/catalog/MODIS_061_MOD13A2</a:t>
            </a:r>
          </a:p>
          <a:p xmlns:a="http://schemas.openxmlformats.org/drawingml/2006/main">
            <a:r>
              <a:t>- https://developers.google.com/earth-engine/datasets/catalog/MODIS_061_MOD15A2H</a:t>
            </a:r>
          </a:p>
          <a:p xmlns:a="http://schemas.openxmlformats.org/drawingml/2006/main">
            <a:r>
              <a:t>- https://developers.google.com/earth-engine/datasets/catalog/UMD_hansen_global_forest_change_2025_v1_13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严格版在AlphaEarth的提取口径上与论文基本对齐，包括官方数据源、2017到2023年、0.025度网格、1公里提取尺度和500米缓冲区。但整体并不是完全相同的实验。论文覆盖美国本土，约1210万条样本；广东省只有17.6万条。论文的气温和降水使用约4公里的PRISM，我们因中国地区不可用而改用约11.1公里的ERA5-Land。空间验证块、城市数据源和Transformer规模也不同。因此当前结果适合做区域泛化验证，不应称为完全等价的数值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https://arxiv.org/pdf/2602.10354</a:t>
            </a:r>
          </a:p>
          <a:p xmlns:a="http://schemas.openxmlformats.org/drawingml/2006/main">
            <a:r>
              <a:t>- /Users/chabing/Desktop/project/alphaearth-reproduction-main/results/gba_real/REPORT.md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可以理解为四个层次。Spearman秩相关先寻找单个维度和环境变量之间是否存在稳定的单调关系。随机森林使用全部64维进行非线性预测，同时给出各维度的重要性。紧凑Transformer进一步检验多维之间的联合关系。最后通过交叉验证判断这些关系是否可靠。R平方越接近1，预测越好；空间损失等于随机验证分数减去空间验证分数，越小越说明模型能够迁移到未见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  <a:p xmlns:a="http://schemas.openxmlformats.org/drawingml/2006/main">
            <a:r>
              <a:t>- /Users/chabing/Desktop/project/alphaearth-reproduction-main/src/run_gba_transformer.py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当前最重要的结果。图中把空间损失乘以100，换算成R平方百分点。论文的随机森林前十变量空间损失只有0.009，大湾区达到0.291，广东省下降到0.067。Transformer也从大湾区的0.213下降到广东省的0.087。与此同时，随机验证平均分没有明显提高。因此广东省扩展带来的主要收益是未见区域泛化改善，而不是简单增加样本后把随机分数做高。不过广东省的空间损失仍然高于论文，说明区域、标签尺度和数据源差异仍需进一步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https://arxiv.org/pdf/2602.10354</a:t>
            </a:r>
          </a:p>
          <a:p xmlns:a="http://schemas.openxmlformats.org/drawingml/2006/main">
            <a:r>
              <a:t>- /Users/chabing/Desktop/project/alphaearth-reproduction-main/results/gba_real/analysis_results_paper_method.json</a:t>
            </a:r>
          </a:p>
          <a:p xmlns:a="http://schemas.openxmlformats.org/drawingml/2006/main">
            <a:r>
              <a:t>- /Users/chabing/Desktop/project/alphaearth-reproduction-main/results/guangdong_real/analysis_results_paper_method.json</a:t>
            </a:r>
          </a:p>
          <a:p xmlns:a="http://schemas.openxmlformats.org/drawingml/2006/main">
            <a:r>
              <a:t>- /Users/chabing/Desktop/project/alphaearth-reproduction-main/results/gba_real/transformer_results.json</a:t>
            </a:r>
          </a:p>
          <a:p xmlns:a="http://schemas.openxmlformats.org/drawingml/2006/main">
            <a:r>
              <a:t>- /Users/chabing/Desktop/project/alphaearth-reproduction-main/results/guangdong_real/transformer_results.json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尺度不匹配可能是结果不稳定的重要原因。ERA5-Land一个像元约11.1公里，而采样点间距约2.7公里，因此一个ERA5像元范围内可能对应16到18个采样点。这些点的AlphaEarth向量不同，但气温、降水、土壤水分等标签高度相似。随机划分时，同一粗像元内的点可能同时进入训练集和测试集，造成伪重复并使随机验证偏乐观。空间留出后，模型必须预测新的区域和环境梯度，分数就会下降。但目前这仍是需要实验验证的假设，不能把所有差异都归因于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https://developers.google.com/earth-engine/datasets/catalog/ECMWF_ERA5_LAND_MONTHLY_AGGR</a:t>
            </a:r>
          </a:p>
          <a:p xmlns:a="http://schemas.openxmlformats.org/drawingml/2006/main">
            <a:r>
              <a:t>- /Users/chabing/Desktop/project/alphaearth-reproduction-main/data/processed/guangdong_sampling_points_0025deg.summary.json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我建议先验证数据尺度问题，再继续增加模型复杂度。第一，按ERA5原生像元编号做分组交叉验证，确保同一粗像元不会同时进入训练和测试。第二，把同一气候像元内的AlphaEarth向量聚合后重新训练，观察伪重复被消除后结果如何变化。第三，按照变量原生分辨率分组，检验分辨率越粗是否对应更大的空间损失。第四，系统改变嵌入提取窗口和空间分块大小，形成多尺度敏感性分析。希望老师指导的是，后续主评价应以常规空间分块为主，还是把按原生气候像元分组作为更严格的主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  <a:p xmlns:a="http://schemas.openxmlformats.org/drawingml/2006/main">
            <a:r>
              <a:t>- /Users/chabing/Desktop/project/alphaearth-reproduction-main/src/run_gba_spatial_sensitivity.py</a:t>
            </a:r>
          </a:p>
          <a:p xmlns:a="http://schemas.openxmlformats.org/drawingml/2006/main">
            <a:r>
              <a:t>- /Users/chabing/Desktop/project/alphaearth-reproduction-main/results/gba_real/quality_audit_results.json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175c270b541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c1e18c75d84c8d" /><Relationship Type="http://schemas.openxmlformats.org/officeDocument/2006/relationships/slideLayout" Target="/ppt/slideLayouts/slideLayout1.xml" Id="R02bdedcceea34b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dedcceea34b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0336f194848b2" /><Relationship Type="http://schemas.openxmlformats.org/officeDocument/2006/relationships/notesSlide" Target="/ppt/notesSlides/notesSlide1.xml" Id="R97045dd5a29846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93e9005b14293" /><Relationship Type="http://schemas.openxmlformats.org/officeDocument/2006/relationships/notesSlide" Target="/ppt/notesSlides/notesSlide2.xml" Id="R8898d98ac9a44c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073dd1b974a60" /><Relationship Type="http://schemas.openxmlformats.org/officeDocument/2006/relationships/notesSlide" Target="/ppt/notesSlides/notesSlide3.xml" Id="R49aab155fb84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1efe5afad4fba" /><Relationship Type="http://schemas.openxmlformats.org/officeDocument/2006/relationships/image" Target="/ppt/media/image.png" Id="Rd9ed48553f0047b6" /><Relationship Type="http://schemas.openxmlformats.org/officeDocument/2006/relationships/notesSlide" Target="/ppt/notesSlides/notesSlide4.xml" Id="Rcb9d43cf2f7b47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6eb7ac37a43bf" /><Relationship Type="http://schemas.openxmlformats.org/officeDocument/2006/relationships/notesSlide" Target="/ppt/notesSlides/notesSlide5.xml" Id="R87b9bdbf62c841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e5eed410541c0" /><Relationship Type="http://schemas.openxmlformats.org/officeDocument/2006/relationships/notesSlide" Target="/ppt/notesSlides/notesSlide6.xml" Id="R55fbf538003e49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9dad99fd542a6" /><Relationship Type="http://schemas.openxmlformats.org/officeDocument/2006/relationships/notesSlide" Target="/ppt/notesSlides/notesSlide7.xml" Id="Rc3d36dd806e84a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9be06bebb4eab" /><Relationship Type="http://schemas.openxmlformats.org/officeDocument/2006/relationships/notesSlide" Target="/ppt/notesSlides/notesSlide8.xml" Id="Rc14ab31757ee46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cabd473504f11" /><Relationship Type="http://schemas.openxmlformats.org/officeDocument/2006/relationships/chart" Target="/ppt/slides/charts/chart1.xml" Id="R8c0c4ea1bd414d25" /><Relationship Type="http://schemas.openxmlformats.org/officeDocument/2006/relationships/notesSlide" Target="/ppt/notesSlides/notesSlide9.xml" Id="Rde86c7d3216845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4372357504599" /><Relationship Type="http://schemas.openxmlformats.org/officeDocument/2006/relationships/notesSlide" Target="/ppt/notesSlides/notesSlide10.xml" Id="R3c2becb0c23440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71650ef084d63" /><Relationship Type="http://schemas.openxmlformats.org/officeDocument/2006/relationships/notesSlide" Target="/ppt/notesSlides/notesSlide11.xml" Id="Raebc55da9afc484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论文</c:v>
          </c:tx>
          <c:spPr>
            <a:solidFill xmlns:a="http://schemas.openxmlformats.org/drawingml/2006/main">
              <a:srgbClr val="A9ADB2"/>
            </a:solidFill>
          </c:spPr>
          <c:cat>
            <c:strLit>
              <c:ptCount val="2"/>
              <c:pt idx="0">
                <c:v>随机森林前10项</c:v>
              </c:pt>
              <c:pt idx="1">
                <c:v>Transformer平均</c:v>
              </c:pt>
            </c:strLit>
          </c:cat>
          <c:val>
            <c:numLit>
              <c:formatCode>General</c:formatCode>
              <c:ptCount val="2"/>
              <c:pt idx="0">
                <c:v>0.9</c:v>
              </c:pt>
              <c:pt idx="1">
                <c:v>1.7</c:v>
              </c:pt>
            </c:numLit>
          </c:val>
        </c:ser>
        <c:ser>
          <c:idx val="1"/>
          <c:order val="1"/>
          <c:tx>
            <c:v>大湾区</c:v>
          </c:tx>
          <c:spPr>
            <a:solidFill xmlns:a="http://schemas.openxmlformats.org/drawingml/2006/main">
              <a:srgbClr val="E58A62"/>
            </a:solidFill>
          </c:spPr>
          <c:cat>
            <c:strLit>
              <c:ptCount val="2"/>
              <c:pt idx="0">
                <c:v>随机森林前10项</c:v>
              </c:pt>
              <c:pt idx="1">
                <c:v>Transformer平均</c:v>
              </c:pt>
            </c:strLit>
          </c:cat>
          <c:val>
            <c:numLit>
              <c:formatCode>General</c:formatCode>
              <c:ptCount val="2"/>
              <c:pt idx="0">
                <c:v>29.1</c:v>
              </c:pt>
              <c:pt idx="1">
                <c:v>21.3</c:v>
              </c:pt>
            </c:numLit>
          </c:val>
        </c:ser>
        <c:ser>
          <c:idx val="2"/>
          <c:order val="2"/>
          <c:tx>
            <c:v>广东省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2"/>
              <c:pt idx="0">
                <c:v>随机森林前10项</c:v>
              </c:pt>
              <c:pt idx="1">
                <c:v>Transformer平均</c:v>
              </c:pt>
            </c:strLit>
          </c:cat>
          <c:val>
            <c:numLit>
              <c:formatCode>General</c:formatCode>
              <c:ptCount val="2"/>
              <c:pt idx="0">
                <c:v>6.7</c:v>
              </c:pt>
              <c:pt idx="1">
                <c:v>8.7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626A74"/>
                    </a:solidFill>
                  </a:rPr>
                  <a:t>空间损失 ΔR²（百分点）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626A74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1131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A6EAD-2D18-4CCF-B23E-08852194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组会进展汇报 · 2026.08.24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967A1-ED6B-4435-B509-DB45C7F2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AlphaEarth表征向量的</a:t>
            </a:r>
          </a:p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区域解释与泛化验证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9E335-5E5B-4902-A92A-F532C530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从大湾区复现到广东省扩展：数据尺度、当前结果与下一步验证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D346D-AD71-4501-AFDB-28A140ED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E3AFD-607C-4630-9603-97210B9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汇报人：Xuzihan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A1D1B-76E7-4E8B-B0C1-D53AC4BF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6699A-4DCC-48A0-B9E0-A4007FBF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3540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6CFAA89-8C15-483E-AB01-4C0688E1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这个项目要回答：64个抽象数字是否对应真实环境信息？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3BFCB-0AF3-4641-B681-7E46062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E567D-CEC0-47EC-B67E-846D8560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AlphaEarth做了什么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4B693-C105-4771-954C-5B2AEEF2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572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4E155-AD1E-4473-9434-29128E89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一个地点 × 一个年份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D630D-FCA5-4E70-91F0-873E3FB0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57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7B007-ADFE-4983-BE08-D8876C4F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64维表征向量（embedding）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13FE6-A179-4E08-AE73-3D732027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它不是温度或植被指数，而是模型学习得到的64个无量纲特征。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54F0A-5728-46CF-9EE8-0F0750DB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我的工作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89F57-F56F-46BE-957F-15BB609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05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DE56D-828F-4FFD-BD16-278C428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把同一地点的64维向量与26个环境变量配对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4477A-E6AB-427F-9FBB-7E6C2BB7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6E620-60BA-4331-AC7F-EDD528E2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训练模型：仅凭64维向量预测温度、植被、地形等变量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1BFB0-9AE9-4A91-822E-B957EAE3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5BB39-815F-4DAC-B473-F84895D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检查哪些维度与哪些物理变量稳定相关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8D548-D683-4500-9A38-9FFE64B8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43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43A61-0897-444C-B05A-77FCB806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577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比较随机留出与空间留出，判断能否迁移到未见区域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989AE-711A-453F-9717-3468E51E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93262-11D1-4829-9A0A-34403730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核心不是“把模型分数做高”，而是确认分数代表真实环境信息。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7B658-8130-44D7-B4EE-85D82160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CFF3D-850E-45E0-8667-5E2235C5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4874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9BC0B00-3239-4E39-868E-90A01491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每条样本由“表征向量、环境标签、位置和年份”共同组成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6F672-6D5C-49F0-B8E6-77980152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931B7-1D50-4724-AE68-A719950D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0A282-575C-45E9-B069-E6ED4510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C0714-A039-43F3-B434-95F2CE04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F502A-3EC5-4201-90A5-8DFAE02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建立采样点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1023B-D999-41BE-9BC3-DB8CA5F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0.025°规则网格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记录经纬度、城市和年份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27057-CC26-4689-A44D-D96F1A1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7B70E-3138-4AF7-87D2-9EC7956C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99EA2-8BB2-466F-9B02-11122DC1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69CFC-63C5-4E19-983B-084D23F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配对两类数据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6D0A0-B5D6-41C5-90C7-815EA988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64维AlphaEarth向量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26个目标环境变量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0DF92-BD17-4D67-9E82-67E801C6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BFB06-7173-4A2F-B02C-F684F044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1A175-354E-4CFF-9745-9CC433F6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352B8-A620-4AD6-B808-B58A174B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训练解释模型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91A30-C14B-437F-ADBF-D75C3C1D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相关分析、随机森林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注意力回归模型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DC5A1-B20A-4E0A-887A-2BC4FE67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A73A3-4582-4978-B6E6-E8558B0D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2FB07-4A27-4E5D-82F8-924B2F27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83579-019D-40B8-88F0-450C064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验证是否可靠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370F0-EA4E-486F-8DC0-C7357458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随机交叉验证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空间分块与时间稳定性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A78CB-4945-4C3C-B3A8-711210C5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BC2A1-D3FD-4A63-B576-3E4F771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6802F-666E-4EF7-905A-2835D29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F7A03-9A8B-41CB-B336-F89515E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677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94D216-7C5F-4A43-9181-DBBC4474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术语说明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69DBC-FC10-4A81-B266-A045832E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871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表征向量＝模型学习得到的特征；目标变量＝希望预测的环境量；泛化＝模型面对未参与训练的新区域时仍能有效。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06B72-3903-4175-BD61-D507344E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EA2250-CE02-4A65-9CA7-D3F6ABE7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299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A407E11-9773-414D-8C8B-32522E09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当前数据已从大湾区扩展到广东省21个地级市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A40D0-F2F6-4C01-9142-B3BF26C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AB2FA-A663-4DDE-9078-083C12FE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广东省数据概况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601F3-D69A-4277-89F7-F20B2D2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25,125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EBC73-2BAF-429D-A014-373482A1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002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每年独立采样位置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8F5C5-04D4-432C-A649-2EE030AC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08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175,875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CB8E2-A066-4728-A519-A4FD136A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384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2017—2023年总观测数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A507C-FEB3-40EF-80DD-1360EBB0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7年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287CD-4F64-423A-8DBB-D0B1610C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766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每个位置按年度配对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DE86C-CF6E-4C89-8124-1C8F078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26项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B5789-EC0A-417F-9AB7-C7BF936F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148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地形、土壤、植被、气候、水文和城市变量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7D95D-1C0F-4C41-B9E8-21AB40BF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77B18-89B3-4A03-B94A-FEB38CFC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一行数据＝某位置某年的64维嵌入＋26个环境变量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67BC8-3C9C-46C7-9DD7-30BEC84D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52550"/>
            <a:ext cx="5476875" cy="46672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d48553f0047b6"/>
          <a:stretch xmlns:a="http://schemas.openxmlformats.org/drawingml/2006/main"/>
        </p:blipFill>
        <p:spPr>
          <a:xfrm xmlns:a="http://schemas.openxmlformats.org/drawingml/2006/main">
            <a:off x="5762625" y="1662774"/>
            <a:ext cx="5476875" cy="4046802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28203-85EB-4135-B058-8BE0867A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2E9AC-8B5E-45B2-ADB1-D6B41393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82662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92CF5F2-1DDD-4503-8EA8-DBC35AC2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“10米分辨率”只描述原始影像，不等于训练样本尺度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53259-5B9F-4F08-9D9D-99B2EF3D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B56D7-E946-41CA-84B7-CE4DAF10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必须区分四个概念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41C25-9C3D-4DCB-9AB4-B8DF1EA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69DF3-DD34-43A5-AE07-91BF1ECD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ED8F6-B402-42EB-AEA6-C31F65A5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10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354F0-0BB0-44CE-8D98-DFA0A6B0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原生空间分辨率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37DE9-D5C7-4259-BBFD-2456154E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官方AlphaEarth影像中，每个像元为10 m × 10 m。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B3B5D-54FA-4C2D-A78A-269CC0F8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65CD8-CCD9-4FF9-95DD-5E776158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9CDAD-F48C-40F6-BF97-84B90BBC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约1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6B64B-813F-4794-8235-ABCC4B1D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嵌入提取尺度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A21F2-E074-499E-B13D-5006E1A1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500 m半径缓冲区，按1 km计算尺度提取64维均值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93666-C14B-4E0C-963C-595638B0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80EF4-154D-40F5-B6EC-9D8DFB53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DA4A6-F055-413D-88F9-E7910843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约2.7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3302E-B8FC-4F8B-9DA6-39B3B3AC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采样点间距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E01E0-6A2F-47B7-89DA-C26BA16A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0.025°规则网格决定样本中心之间的距离。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DA9D6-FCA2-42C9-9799-CD02F5E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0">
            <a:solidFill>
              <a:srgbClr val="FAEC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EA0F4-3668-4BB4-AA97-B87DE74C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7B5F5-76E6-418E-AC03-5A01D76E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74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rPr>
              <a:t>30 m—11.1 km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13E6A-1FC4-4DAE-AE87-1A881977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环境标签分辨率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BAFDD-FF70-49F4-AEDE-02DE67B8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不同环境产品的真实像元大小差异很大。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8C8A6-75E6-4913-8627-2AACF9CB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A8675-10BD-45BB-84F8-D976A03C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4CFE7-9A30-4EC4-A143-C394C234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E6986-2621-4B0B-A459-44B688FD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925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AE13A2-C0A5-4F05-81A4-0D281924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规范表述：GEE是处理平台；10米仅指AlphaEarth原生像元；当前单条嵌入的空间支持约1公里。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54CCB-E9C6-462A-A611-DC9BBD64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69F61-278C-4B0F-AEE9-6407A6E4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7016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3F76D1A-6EF5-4681-B73D-BD9E1C9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26个环境变量的原生分辨率从30米跨越到11.1公里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D6C4E-4C29-49FB-BFEC-44950864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834FA-8FEE-4385-8570-76B829F1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像元边长越大，空间信息越粗；重采样到10米不会产生新的局地信息。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C5E9E-DC77-4296-B503-E0A5884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3B709-3CDF-4DC9-86B7-7080398A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6C5E0-1A7A-418C-B4FF-1044EC8D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3667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5DD1B-4AFE-4FCD-B66A-404A387C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9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代表变量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B3974-1BA8-496E-9677-FE49296B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19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15A9F-5B17-4CFC-9803-0465420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实际数据源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4CEC7-FA6F-4115-BC43-09349F86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19250"/>
            <a:ext cx="297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E5741-DD45-4938-A534-1E6E7AA8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695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原生像元大小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1AD50-8994-4E2C-837B-C7F8213B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7F12C-D0F3-411A-9092-265B2BF3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地形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A72EA-7C7A-4DE5-A37A-47542A28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57400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9A769-6135-499E-99C0-017E341A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33600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高程、坡度、坡向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191A5-DCB8-48CB-9B3F-5DDE834F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57400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2B499-FF54-4E65-AB3B-33CB2DB8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336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SRTM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C9548-436C-4BB9-A1C2-BF1D5E1D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57400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8F600-B64B-4477-BCE2-4B11174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3360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30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4B1CD-63FB-47DE-9021-994F643D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E30D6-8921-42F8-B470-2D3116DD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土壤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0DA16-7D05-4FD1-AF25-64BBA5AC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62225"/>
            <a:ext cx="3667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33E4D-BF63-43F4-9C48-B341CD53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3842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黏土、有机碳、pH、持水量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5C69F-7146-49E6-8A47-C601DBC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622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805DF-FD4D-4633-A868-7DB9281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384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OpenLandMap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F4707C-65E0-4F0A-B42C-B1498908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62225"/>
            <a:ext cx="2971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6B4B0-EE0B-451B-950E-ABAB7AB2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384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250 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BA4A6-1B2C-4F1D-8F86-795064EF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E6E48-06D5-44AA-A14E-443C6275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植被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382696-C696-4703-A80D-46D17481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33725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30C7D-ECB1-4544-8615-51D02C4B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9925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树木覆盖率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A813A0-A8DC-40CF-9165-34E9774F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33725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4F1679-616B-4D4A-A0E9-EB5B963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992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Hansen全球森林变化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D1697F-5EC8-4876-B3EE-0837491C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33725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CE93B-DDC3-41E0-A9DE-C6FA42B1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09925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约31 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D48923-E043-44DB-BA89-A01BD863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F9EC57-02B4-4E6A-98D3-B3A92C3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植被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2F845F-0BAD-40B9-808F-653FD8E6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38550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9101E5-9A66-46B0-B5BA-92375EB1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14750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叶面积指数、反照率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99D8EB-F559-4228-AE69-5CFAC7E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38550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273B91-7D93-4ECB-93FE-45BC3FA2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MODIS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939C99-225F-4F0A-A59C-B4D80D5F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FD2D2C-579D-4505-AEE7-806E0B2C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1475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500 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9DC3F5-35E7-4B86-BBC4-1606AE20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825D50-A9F6-4A2F-B409-4A53B4EE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23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植被与地表温度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9294B1-4D3A-43AF-A83F-E35DACCD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3667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61B39B-36AA-443E-9822-37C33484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9575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NDVI、EVI、日间/夜间地表温度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646AE2-6A3F-41B4-8871-98C80CE4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143375"/>
            <a:ext cx="2857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94B5A2-1DB3-4AAE-9388-4B12F272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19575"/>
            <a:ext cx="2667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MODIS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232099-9AD4-4F2B-9B03-AD475EA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43375"/>
            <a:ext cx="2971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71BD5D-D276-4902-8042-A474649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19575"/>
            <a:ext cx="2781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1 km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199EE8-4597-44BC-A28D-D48020A1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C85E70-3FEE-4165-8180-18CBF79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气候与水文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02A77A-D747-4C6E-9D07-5A562C21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43450"/>
            <a:ext cx="3667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06F061-8C31-47E1-98C8-F049608D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96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气温、露点、降水、土壤水分、径流、蒸散发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A69F70-E4D6-4B30-8E30-B2A5536D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7434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650494-C94E-4868-92C3-0EDECC8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196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ERA5-Land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5CE52B-05FD-4203-B75E-ED77701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43450"/>
            <a:ext cx="297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0106DB-6CC5-4DD3-93DA-2830AB68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196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约11.1 km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04C4F6-00CF-4D69-9073-6DADAC72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18F5CF-5C61-4740-B987-4D8741AD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城市环境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836F0B-967B-4E60-B62C-8F8E3709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10200"/>
            <a:ext cx="3667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1A3F83-2C2A-4D93-9981-DFB6B55D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864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不透水面、夜间灯光、人口密度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E749FA-6785-4941-8F55-02B0645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4102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7BA62D-6DCF-4113-A3C1-B869F0CD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864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WorldCover / VIIRS / GPW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54DBAE-3ED8-4B9F-93D4-A8818FB2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10200"/>
            <a:ext cx="297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C316D7-99E9-46C9-BB5B-F5BEE511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486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10 m—1 km；不透水面统计为500 m邻域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6B2BD6-0932-447E-A492-6F237577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C212A1-D206-4B4C-B612-FB20E080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7667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02D4E59-4919-4287-B7CC-A80311A3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与原论文相比：提取口径基本对齐，但实验条件并不完全相同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16EE8-406E-43B7-BC18-D9F21EC4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F71C7-736C-4D0A-8A38-AC3DA10C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已经对齐的部分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E4B5A-4B23-4B7D-BC4B-3B2E130E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000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3816C-F03E-4AEE-8C37-F3D8389C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EDFA3-CCE2-44C1-BB2D-B97D2910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同一官方AlphaEarth年度数据集，原生像元10米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57A37-93D8-4AA9-BC39-DC046651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60D51-EAD5-43F8-A6C1-B11D53AB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2017—2023年，共7个年度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2F00E-4917-4381-A73A-1C53A6E0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AFF0B-7E04-4583-9172-1527A813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0.025°规则采样网格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D488F-DFE8-42B1-A4A5-F54D19F5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B95DD-F873-4DFC-B305-045ECFE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1公里提取尺度、500米半径缓冲区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D8486-95AD-44DE-9FA5-2462BC80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5468A-C3F4-4D8C-925A-ACB24119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相同的26类环境变量框架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BA4D7-0439-4421-BA55-82405E39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28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需要谨慎解释的差异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64371-0E6C-4F97-94F5-1277BE55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5334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3DE5F-4E62-4F07-A332-6804057E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76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89628-AFF6-4279-85D5-E08750F8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研究区：美国本土约800万平方公里；广东省约17.8万平方公里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DE315-1FE3-4DDE-B44E-A91B548E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08514-AB46-4492-A719-419A7DC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样本量：论文约1210万；广东省17.6万，大湾区5.5万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89CD7-6D6F-4B86-9D1F-A38AF83A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B29BB-C0EC-4F3B-9717-F96B6FE2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813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气候源：论文PRISM约4公里；本项目ERA5-Land约11.1公里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4E536-BAEF-472B-B6F7-B98A745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0CFE8-50C0-42E0-A66C-E46E9334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766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城市源：论文NLCD；本项目ESA WorldCover替代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3C0D6-EFB5-446C-BA39-89644FE9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CB841-AC02-4C6C-B8EB-D9707F12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719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空间验证：论文2°分块；区域实验采用0.5°分块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665E0-8686-4BB1-A029-EC57A10C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BE818-BF99-4AC5-B530-AF48F9E0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672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Transformer为缩小版，不是原模型的代码级复现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38BC29-C291-47C0-910B-03E818F3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9251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B9E83-05F9-4B70-B4D1-7E8A810F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因此：可以比较研究趋势，但不能把数值差异简单归因于模型本身。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75B7A-6884-4706-96BA-A7A7964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EAADB-790D-4E8D-861F-CDFB25E4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68370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4F2888C-DCB3-4913-9F79-91B7C112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四类分析分别回答“相关、可预测、可解释、可迁移”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06A23-B7D3-4F82-B2B1-C943C3D8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9BC22-EF8A-4D1B-B0DB-5876B557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D8CD5-6067-47ED-9678-3E8907D0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0DAC5-2562-48B5-AF30-BFDDC5D4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B14CA-EEB4-4CB1-856D-EB61290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相关分析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667EF-D650-40AE-B107-E85E5B46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Spearman秩相关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178C5-106A-40BE-B9FC-197D9A23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寻找单个表征维度与环境变量之间的单调关系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281C0-BE9C-43F1-BE0C-534D3916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0D233-7A39-4A2B-8B3E-6C4ABAB7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5BFA1-E0F3-4281-9A38-45306691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23739-E6D6-469F-8DC8-F82C2836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随机森林回归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4D71F-EBE2-4834-94B5-B35689E6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非线性预测模型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D050E-1D7A-4FB6-B7AF-12F84BE8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用全部64维预测每个环境变量，并计算变量重要性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D1844-8701-4511-B450-D5459D9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D2980-F4AD-43E7-B7E2-E19F17AF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C8D46-4AA5-41EC-BCD6-297D69DF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F2986-466B-4231-BA09-00A7447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注意力回归模型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AF77B-AC67-4118-B0CE-F45212F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紧凑Transformer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CE0FC-F901-40F5-AB9F-CC78BFB8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检验多维联合关系，并与随机森林的解释进行比较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F7836-49CC-441F-A234-35EE539E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4323C-4011-4078-B227-51F5B64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4D2B6-80FD-4FBA-94C7-AB9D22C4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656DA-6970-447A-9C7D-C7B11BB7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交叉验证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7A577-4C9A-448A-9B1C-91953B8E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随机留出与空间留出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80927-39FE-4482-979A-53E114A9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比较模型对普通测试样本和未见区域的预测能力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9EFCC1-9215-4C2A-B3F0-C529F829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1091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ED7AF-61F8-4371-98DB-1E641AF3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决定系数 R²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B69CA-2431-4587-98A8-8F694313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越接近1，预测越准确；接近0表示与直接使用均值相近。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1DDBEB-CF5F-4D76-B4EB-AD1C536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空间损失 ΔR²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008D92-C7FD-4406-8513-E861B734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00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随机验证R²－空间验证R²；越小表示区域迁移越稳定。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B88396-C0EA-40B0-8882-07126DB6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49C7E-7297-4C53-8D21-7FA0E677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0016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2177E01-5CBC-454D-BB0A-0BF62499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广东省扩展显著减少空间损失，但仍未达到论文水平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32F6D-DCB0-4CCD-A9A1-F36655A1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0879-3AC1-46A9-8DD8-BDECC868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空间损失（R²百分点）：论文 0.9 / 1.7 ｜ 大湾区 29.1 / 21.3 ｜ 广东省 6.7 / 8.7（随机森林 / Transformer）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67627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0c4ea1bd414d2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9FE69-0947-4A4E-86C3-CE918806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大湾区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FDD22-D1BA-486C-AEC7-F0D2CCE1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812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随机森林前十变量空间损失为0.291；Transformer平均空间损失为0.213。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E3A34-2EBC-4C64-9DA6-D0FDE5AC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广东省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23744-671F-4927-9A75-DA443080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4807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对应下降到0.067和0.087，说明扩大独立空间覆盖后，未见区域表现明显改善。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C9158-8419-497B-AA39-60D520A0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714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0E87C-3918-444C-BB44-9A9C7127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62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阶段性结论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DD855-E3C3-4C71-BDB7-7CE3A6CA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5245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区域范围扩大主要改善空间泛化，而不是简单抬高随机验证分数。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6B7E9-9943-4D47-9647-9BA3F0F6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B233C-3CE4-4DE9-BF10-B3C49386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91231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735907C-6227-4992-9A44-76E61C58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气候标签过粗，可能同时抬高随机验证并削弱空间泛化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24C78-9DF8-42F0-8B64-40E2CF8B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54BA6-981C-4511-A8B8-A20D9406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rPr>
              <a:t>一个ERA5-Land像元：约11.1 km × 11.1 km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6E695-26F5-4F75-9395-E29BD327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19050">
            <a:solidFill>
              <a:srgbClr val="B84B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3A476-8975-4201-ADF0-7E71E545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BE336-C15E-4F9B-A319-35D1C5C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86A82-4400-4CA0-A5C4-6B4548A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A569B-DC03-4F87-943A-106FD2E1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7536A-307D-471B-9E45-B251D83D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9F4A9-5689-4247-9EDA-46ED9B1B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8A7E1-712E-44AE-908A-80632B44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72B1B-9A8C-4E97-BC7D-E36667B3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C68E7-2D69-4631-B877-DFC5265A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EDB8E-35F3-4AEE-9C84-E01C96CB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564F6-82D5-42B5-8136-5D6F266C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6FA13-E3BB-4D6A-8C9A-AECD95E5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16369-153D-4362-BCE0-B0955422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EAE47-81F8-4905-A8A0-DDAC9161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8EED4-D2E7-4C9E-B641-DB6B0C83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17691-6FC6-487B-A789-FBB92BC1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74A20-B6CB-4ED9-828F-0DBE80C6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约16—18个采样点可能来自同一粗气候像元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DE3DC-E6AA-461D-84DD-7F70340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每个点有不同的AlphaEarth向量，但气温、降水等标签高度相似。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FE3EF-1BE6-494B-A42C-CC7C26D9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C9CED4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7317D-81AF-4FA0-A41E-D21670ED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657D7-C3E6-4B34-A6C3-2FCA916B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随机交叉验证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395F2-FA42-404C-B38A-AEFDEBCB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241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同一粗像元内的点可能同时出现在训练集和测试集，模型容易利用共同的空间梯度，测试分数可能偏乐观。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4EC0E-0146-44E7-B21D-912F2377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4D45E-671E-4F4A-B96C-314AD7B3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空间分块交叉验证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6F39D-01E0-48EB-B3C8-BC90BC0A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整片区域被留出后，共享标签和邻近信息减少，模型必须迁移到新的环境梯度，因此分数更容易下降。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D5EA7-A19F-4573-85D7-E4087DE7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721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5F6E84-A956-4756-A7DC-F623ABE2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76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rPr>
              <a:t>这是待验证假设，不能在补充实验前直接作为唯一原因。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D12BF-5938-4142-BCF8-288581FF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705D2-21C8-40F6-AF33-3DCC5C0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14285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CD93F292-8177-42DA-9EEC-5E92F4B1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下一阶段先验证数据尺度，再继续扩展模型和应用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BC620-8CC9-4B19-B5AF-6B5967B5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E6902-922E-4D01-964B-603D7B6D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70B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E226B-F6BE-419C-AD58-6E548031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2F4A0-1A9B-429F-B166-C36876B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95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按ERA5原生像元分组验证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F1021-E48D-4B2F-B233-8BFA3C40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同一个11.1公里像元不能同时进入训练集和测试集，消除伪重复。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AFE7A-49C7-44AB-B0BA-9A551065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A7D7E-0422-4C29-8D77-CC8C862C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F6296-5B12-4962-8362-C31F38A1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将嵌入聚合到标签尺度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E4FA3-2FC4-45ED-B36A-80FD031C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比较“一个采样点一条记录”和“一个气候像元一条记录”的结果。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FBD76-3EF7-4857-807E-B96E68C7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693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74617-8E29-4F26-90D5-795B25AA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56D06-CC06-428B-9A4D-4A17CB0B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95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按原生分辨率分组比较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89831-590D-4AD7-9A95-8ECAB73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检验30米、500米、1公里和11公里变量的空间损失是否系统不同。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1793A-E6CE-43F9-A39E-50A13969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84B4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F9C63-17D1-44FE-A5E2-2529ED78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532E3-49E7-4701-941E-347E2630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完成多尺度敏感性分析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320DE-58A0-4704-9CF6-152DFEF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改变提取窗口和空间分块尺度，确定结论在哪些尺度上稳定。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B8F61-3F58-451F-8DD0-20DF0710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9251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FB857-941F-4077-9C90-247B3B73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18C84"/>
                </a:solidFill>
                <a:latin typeface="Arial Unicode MS"/>
                <a:ea typeface="Arial Unicode MS"/>
                <a:cs typeface="Arial Unicode MS"/>
              </a:rPr>
              <a:t>希望讨论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8800D-73E2-42CD-ADF4-9498B382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315"/>
                </a:solidFill>
                <a:latin typeface="Arial Unicode MS"/>
                <a:ea typeface="Arial Unicode MS"/>
                <a:cs typeface="Arial Unicode MS"/>
              </a:rPr>
              <a:t>主评价应优先采用“空间分块”还是“按原生气候像元分组”的交叉验证？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2E957-4B21-446F-BA34-56153A33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AlphaEarth区域解释与泛化验证 · 组会进展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6E215-422A-41AA-8198-32E29D7C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26A74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0049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2026-08-24T05:07:38.0310000Z</dcterms:created>
  <dcterms:modified xsi:type="dcterms:W3CDTF">2026-08-24T05:07:38.0310000Z</dcterms:modified>
</coreProperties>
</file>