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9344e986e14c1d" /><Relationship Type="http://schemas.openxmlformats.org/officeDocument/2006/relationships/extended-properties" Target="/docProps/app.xml" Id="R8c6ffe1f0405458f" /><Relationship Type="http://schemas.openxmlformats.org/officeDocument/2006/relationships/officeDocument" Target="/ppt/presentation.xml" Id="R09dfe53019204f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a93fedd407438f"/>
  </p:sldMasterIdLst>
  <p:notesMasterIdLst>
    <p:notesMasterId xmlns:r="http://schemas.openxmlformats.org/officeDocument/2006/relationships" r:id="R706a9bbdbf3442b6"/>
  </p:notesMasterIdLst>
  <p:sldIdLst>
    <p:sldId xmlns:r="http://schemas.openxmlformats.org/officeDocument/2006/relationships" id="256" r:id="R1d203186907e456c"/>
    <p:sldId xmlns:r="http://schemas.openxmlformats.org/officeDocument/2006/relationships" id="257" r:id="R7995bdd9955145a8"/>
    <p:sldId xmlns:r="http://schemas.openxmlformats.org/officeDocument/2006/relationships" id="258" r:id="R94373351e0bb4954"/>
    <p:sldId xmlns:r="http://schemas.openxmlformats.org/officeDocument/2006/relationships" id="259" r:id="Rdd51409746684c80"/>
    <p:sldId xmlns:r="http://schemas.openxmlformats.org/officeDocument/2006/relationships" id="260" r:id="Ra858781f80764b06"/>
    <p:sldId xmlns:r="http://schemas.openxmlformats.org/officeDocument/2006/relationships" id="261" r:id="R6257b6a9fc38470e"/>
    <p:sldId xmlns:r="http://schemas.openxmlformats.org/officeDocument/2006/relationships" id="262" r:id="R063ad9ffc47646a9"/>
    <p:sldId xmlns:r="http://schemas.openxmlformats.org/officeDocument/2006/relationships" id="263" r:id="R996e63d801a341c1"/>
    <p:sldId xmlns:r="http://schemas.openxmlformats.org/officeDocument/2006/relationships" id="264" r:id="R015e9e10dbd64ba6"/>
    <p:sldId xmlns:r="http://schemas.openxmlformats.org/officeDocument/2006/relationships" id="265" r:id="R19328360f7424dd6"/>
    <p:sldId xmlns:r="http://schemas.openxmlformats.org/officeDocument/2006/relationships" id="266" r:id="R71c1f0af5c224e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058f4003374bfb" /><Relationship Type="http://schemas.openxmlformats.org/officeDocument/2006/relationships/slideMaster" Target="/ppt/slideMasters/slideMaster1.xml" Id="R92a93fedd407438f" /><Relationship Type="http://schemas.openxmlformats.org/officeDocument/2006/relationships/notesMaster" Target="/ppt/notesMasters/notesMaster1.xml" Id="R706a9bbdbf3442b6" /><Relationship Type="http://schemas.openxmlformats.org/officeDocument/2006/relationships/presProps" Target="/ppt/presProps.xml" Id="R8706e33e601f49e4" /><Relationship Type="http://schemas.openxmlformats.org/officeDocument/2006/relationships/tableStyles" Target="/ppt/tableStyles.xml" Id="R6bdf42750c554c44" /><Relationship Type="http://schemas.openxmlformats.org/officeDocument/2006/relationships/slide" Target="/ppt/slides/slide1.xml" Id="R1d203186907e456c" /><Relationship Type="http://schemas.openxmlformats.org/officeDocument/2006/relationships/slide" Target="/ppt/slides/slide2.xml" Id="R7995bdd9955145a8" /><Relationship Type="http://schemas.openxmlformats.org/officeDocument/2006/relationships/slide" Target="/ppt/slides/slide3.xml" Id="R94373351e0bb4954" /><Relationship Type="http://schemas.openxmlformats.org/officeDocument/2006/relationships/slide" Target="/ppt/slides/slide4.xml" Id="Rdd51409746684c80" /><Relationship Type="http://schemas.openxmlformats.org/officeDocument/2006/relationships/slide" Target="/ppt/slides/slide5.xml" Id="Ra858781f80764b06" /><Relationship Type="http://schemas.openxmlformats.org/officeDocument/2006/relationships/slide" Target="/ppt/slides/slide6.xml" Id="R6257b6a9fc38470e" /><Relationship Type="http://schemas.openxmlformats.org/officeDocument/2006/relationships/slide" Target="/ppt/slides/slide7.xml" Id="R063ad9ffc47646a9" /><Relationship Type="http://schemas.openxmlformats.org/officeDocument/2006/relationships/slide" Target="/ppt/slides/slide8.xml" Id="R996e63d801a341c1" /><Relationship Type="http://schemas.openxmlformats.org/officeDocument/2006/relationships/slide" Target="/ppt/slides/slide9.xml" Id="R015e9e10dbd64ba6" /><Relationship Type="http://schemas.openxmlformats.org/officeDocument/2006/relationships/slide" Target="/ppt/slides/slide10.xml" Id="R19328360f7424dd6" /><Relationship Type="http://schemas.openxmlformats.org/officeDocument/2006/relationships/slide" Target="/ppt/slides/slide11.xml" Id="R71c1f0af5c224e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bd821187bf4d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41287b72154bf8" /><Relationship Type="http://schemas.openxmlformats.org/officeDocument/2006/relationships/notesMaster" Target="/ppt/notesMasters/notesMaster1.xml" Id="R24b0a39b9c6e41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b12345a82a4c0b" /><Relationship Type="http://schemas.openxmlformats.org/officeDocument/2006/relationships/notesMaster" Target="/ppt/notesMasters/notesMaster1.xml" Id="R43afcabf58f64e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f070743479483b" /><Relationship Type="http://schemas.openxmlformats.org/officeDocument/2006/relationships/notesMaster" Target="/ppt/notesMasters/notesMaster1.xml" Id="R415d6ba3c31a41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f8a90849cf4964" /><Relationship Type="http://schemas.openxmlformats.org/officeDocument/2006/relationships/notesMaster" Target="/ppt/notesMasters/notesMaster1.xml" Id="Rc3586dcc7e3d4e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ab15c0fd414e17" /><Relationship Type="http://schemas.openxmlformats.org/officeDocument/2006/relationships/notesMaster" Target="/ppt/notesMasters/notesMaster1.xml" Id="R52ce99bd144d45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914a62a15d4e09" /><Relationship Type="http://schemas.openxmlformats.org/officeDocument/2006/relationships/notesMaster" Target="/ppt/notesMasters/notesMaster1.xml" Id="Rc39392400a0d4e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d6843059c344bc" /><Relationship Type="http://schemas.openxmlformats.org/officeDocument/2006/relationships/notesMaster" Target="/ppt/notesMasters/notesMaster1.xml" Id="Rb6060ee1bd4c48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b9b18ae3d24220" /><Relationship Type="http://schemas.openxmlformats.org/officeDocument/2006/relationships/notesMaster" Target="/ppt/notesMasters/notesMaster1.xml" Id="R0fff28b1477e4b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7fc1d850dc47cf" /><Relationship Type="http://schemas.openxmlformats.org/officeDocument/2006/relationships/notesMaster" Target="/ppt/notesMasters/notesMaster1.xml" Id="R232b8cacf4cd4e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0623d47239449f" /><Relationship Type="http://schemas.openxmlformats.org/officeDocument/2006/relationships/notesMaster" Target="/ppt/notesMasters/notesMaster1.xml" Id="Raa76c3b197b946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1044197c88424c" /><Relationship Type="http://schemas.openxmlformats.org/officeDocument/2006/relationships/notesMaster" Target="/ppt/notesMasters/notesMaster1.xml" Id="R85bc2bd3bcc241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同学好。今天我汇报的是AlphaEarth表征向量在区域尺度上的可解释性和泛化验证。为了让第一次接触这个项目的老师也能理解，我会先说明项目究竟在做什么，再解释数据如何构建，特别区分原生分辨率、提取尺度、采样间距和环境标签分辨率，最后汇报大湾区与广东省的结果以及下一步验证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/Users/chabing/Desktop/project/alphaearth-reproduction-main/README.md</a:t>
            </a:r>
          </a:p>
          <a:p xmlns:a="http://schemas.openxmlformats.org/drawingml/2006/main">
            <a:r>
              <a:t>- https://arxiv.org/pdf/2602.10354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phaEarth会把某个地点在某一年的多源遥感信息压缩成64个数字，称为64维表征向量。这里的表征向量不是直接的温度、降水或植被指数，而是一组由模型学习得到的抽象特征。我的工作是把这64个数字与同一地点、同一年对应的26个环境变量配对，然后回答三个问题：第一，能否从这64个数字重建环境变量；第二，哪些维度具有稳定的物理含义；第三，模型在新区域还能不能保持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https://developers.google.com/earth-engine/datasets/catalog/GOOGLE_SATELLITE_EMBEDDING_V1_ANNUAL</a:t>
            </a:r>
          </a:p>
          <a:p xmlns:a="http://schemas.openxmlformats.org/drawingml/2006/main">
            <a:r>
              <a:t>- /Users/chabing/Desktop/project/alphaearth-reproduction-main/src/run_gba_real_analysis.py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处理可以分成四步。第一，在研究区建立规则采样点。第二，为每个采样点和年份配对AlphaEarth的64维表征向量与26个环境变量。第三，使用相关分析、随机森林回归和基于注意力机制的回归模型分析两者关系。第四，分别做随机交叉验证、空间分块交叉验证和年度稳定性检验。这里需要明确三个术语：目标变量是要预测的环境量；解释性是维度与物理变量之间是否有稳定关系；泛化是模型在没见过的区域是否仍然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/Users/chabing/Desktop/project/alphaearth-reproduction-main/src/run_gba_real_analysis.py</a:t>
            </a:r>
          </a:p>
          <a:p xmlns:a="http://schemas.openxmlformats.org/drawingml/2006/main">
            <a:r>
              <a:t>- /Users/chabing/Desktop/project/alphaearth-reproduction-main/src/run_gba_transformer.py</a:t>
            </a:r>
          </a:p>
          <a:p xmlns:a="http://schemas.openxmlformats.org/drawingml/2006/main">
            <a:r>
              <a:t>- /Users/chabing/Desktop/project/alphaearth-reproduction-main/src/run_gba_quality_audit.py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已经完成从大湾区到广东省的扩展。广东省覆盖21个地级市，每年有25125个独立位置，2017到2023年共175875条观测。这里的一条观测不是一张影像，而是某个采样位置在某一年的一行表格，包含64个AlphaEarth特征、26个环境变量、经纬度、城市和年份。规则网格的间距是0.025度，在广东纬度大约相当于东西2.6公里、南北2.8公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/Users/chabing/Desktop/project/alphaearth-reproduction-main/data/processed/guangdong_sampling_points_0025deg.summary.json</a:t>
            </a:r>
          </a:p>
          <a:p xmlns:a="http://schemas.openxmlformats.org/drawingml/2006/main">
            <a:r>
              <a:t>- /Users/chabing/Desktop/project/alphaearth-reproduction-main/results/guangdong_real/guangdong_sampling_coverage.png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决最容易混淆的问题。官方AlphaEarth影像的原生空间分辨率是10米，但我们并没有把每个10米像元作为一条训练样本。严格版按照论文方法，对每个采样点建立500米半径缓冲区，并以1公里计算尺度提取64维向量。因此单条嵌入观测的空间支持范围约为1公里。采样点中心之间又相隔约2.7公里。最后，监督标签来自不同环境产品，原生像元从30米到11.1公里不等。这四个尺度不能统一叫做分辨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https://developers.google.com/earth-engine/datasets/catalog/GOOGLE_SATELLITE_EMBEDDING_V1_ANNUAL</a:t>
            </a:r>
          </a:p>
          <a:p xmlns:a="http://schemas.openxmlformats.org/drawingml/2006/main">
            <a:r>
              <a:t>- /Users/chabing/Desktop/project/alphaearth-reproduction-main/src/fetch_gba_embeddings_gee.py</a:t>
            </a:r>
          </a:p>
          <a:p xmlns:a="http://schemas.openxmlformats.org/drawingml/2006/main">
            <a:r>
              <a:t>- /Users/chabing/Desktop/project/alphaearth-reproduction-main/data/processed/gba_aef_gee_1km_2017_2023.provenance.json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监督标签的原生分辨率差异很大。地形数据大约30米，土壤250米，叶面积指数和反照率500米，NDVI、EVI和地表温度约1公里。最粗的是ERA5-Land气候和水文数据，像元边长约11.1公里。当前代码为了统一提取，先进行双线性重采样再取点，但这只是把粗网格插值到更细的输出网格，不会产生新的10米气候信息。因此在解释结果时，应以原始数据源的分辨率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/Users/chabing/Desktop/project/alphaearth-reproduction-main/src/fetch_gba_environment_gee.py</a:t>
            </a:r>
          </a:p>
          <a:p xmlns:a="http://schemas.openxmlformats.org/drawingml/2006/main">
            <a:r>
              <a:t>- https://developers.google.com/earth-engine/datasets/catalog/ECMWF_ERA5_LAND_MONTHLY_AGGR</a:t>
            </a:r>
          </a:p>
          <a:p xmlns:a="http://schemas.openxmlformats.org/drawingml/2006/main">
            <a:r>
              <a:t>- https://developers.google.com/earth-engine/datasets/catalog/USGS_SRTMGL1_003</a:t>
            </a:r>
          </a:p>
          <a:p xmlns:a="http://schemas.openxmlformats.org/drawingml/2006/main">
            <a:r>
              <a:t>- https://developers.google.com/earth-engine/datasets/catalog/MODIS_061_MOD13A2</a:t>
            </a:r>
          </a:p>
          <a:p xmlns:a="http://schemas.openxmlformats.org/drawingml/2006/main">
            <a:r>
              <a:t>- https://developers.google.com/earth-engine/datasets/catalog/MODIS_061_MOD15A2H</a:t>
            </a:r>
          </a:p>
          <a:p xmlns:a="http://schemas.openxmlformats.org/drawingml/2006/main">
            <a:r>
              <a:t>- https://developers.google.com/earth-engine/datasets/catalog/UMD_hansen_global_forest_change_2025_v1_13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原论文、大湾区和广东省放在同一个口径下比较。已经严格对齐的是时间范围、0.025度网格、64维输入、1公里提取尺度和500米缓冲区。主要差异有三类。第一是数据规模：论文约1210万条，我们分别只有5.46万和17.59万条。第二是标签来源：论文的气温和降水使用约4公里的PRISM，我们使用约11.1公里的ERA5-Land；水文数据则都来自ERA5-Land。第三是模型容量：论文的随机森林最多使用70万条样本，Transformer使用500万条、4层8头和60轮训练；区域实验最多使用3万条，Transformer是2层4头和12轮。因此目前是方法复现和区域泛化实验，不是等条件的数值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https://arxiv.org/html/2602.10354</a:t>
            </a:r>
          </a:p>
          <a:p xmlns:a="http://schemas.openxmlformats.org/drawingml/2006/main">
            <a:r>
              <a:t>- /Users/chabing/Desktop/project/alphaearth-reproduction-main/results/gba_real/analysis_results_paper_method.json</a:t>
            </a:r>
          </a:p>
          <a:p xmlns:a="http://schemas.openxmlformats.org/drawingml/2006/main">
            <a:r>
              <a:t>- /Users/chabing/Desktop/project/alphaearth-reproduction-main/results/guangdong_real/analysis_results_paper_method.json</a:t>
            </a:r>
          </a:p>
          <a:p xmlns:a="http://schemas.openxmlformats.org/drawingml/2006/main">
            <a:r>
              <a:t>- /Users/chabing/Desktop/project/alphaearth-reproduction-main/results/gba_real/transformer_results.json</a:t>
            </a:r>
          </a:p>
          <a:p xmlns:a="http://schemas.openxmlformats.org/drawingml/2006/main">
            <a:r>
              <a:t>- /Users/chabing/Desktop/project/alphaearth-reproduction-main/results/guangdong_real/transformer_results.json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可以理解为四个层次。Spearman秩相关先寻找单个维度和环境变量之间是否存在稳定的单调关系。随机森林使用全部64维进行非线性预测，同时给出各维度的重要性。紧凑Transformer进一步检验多维之间的联合关系。最后通过交叉验证判断这些关系是否可靠。R平方越接近1，预测越好；空间损失等于随机验证分数减去空间验证分数，越小越说明模型能够迁移到未见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/Users/chabing/Desktop/project/alphaearth-reproduction-main/src/run_gba_real_analysis.py</a:t>
            </a:r>
          </a:p>
          <a:p xmlns:a="http://schemas.openxmlformats.org/drawingml/2006/main">
            <a:r>
              <a:t>- /Users/chabing/Desktop/project/alphaearth-reproduction-main/src/run_gba_transformer.py</a:t>
            </a:r>
          </a:p>
          <a:p xmlns:a="http://schemas.openxmlformats.org/drawingml/2006/main">
            <a:r>
              <a:t>- /Users/chabing/Desktop/project/alphaearth-reproduction-main/src/run_gba_quality_audit.py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结果拆成四类证据。第一，单维相关信号基本出现：论文有34个维度的最大绝对相关超过0.5，大湾区有33个，广东省有29个。第二，强预测能力没有达到论文：论文随机森林有12个变量的R平方超过0.9，Transformer有14个；两个区域实验分别只有1个和0个。第三，空间泛化明显较弱，但广东省比大湾区改善：随机森林前10项的空间损失从0.291降到0.067，Transformer平均损失从0.213降到0.087，论文分别只有0.009和0.017。第四，时间稳定性和Spearman与随机森林的一致性也低于论文。阶段结论是：表征中确实能找到环境相关信号，但目前还没有复现论文所报告的强预测、强空间稳健性和高方法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https://arxiv.org/html/2602.10354</a:t>
            </a:r>
          </a:p>
          <a:p xmlns:a="http://schemas.openxmlformats.org/drawingml/2006/main">
            <a:r>
              <a:t>- /Users/chabing/Desktop/project/alphaearth-reproduction-main/results/gba_real/analysis_results_paper_method.json</a:t>
            </a:r>
          </a:p>
          <a:p xmlns:a="http://schemas.openxmlformats.org/drawingml/2006/main">
            <a:r>
              <a:t>- /Users/chabing/Desktop/project/alphaearth-reproduction-main/results/guangdong_real/analysis_results_paper_method.json</a:t>
            </a:r>
          </a:p>
          <a:p xmlns:a="http://schemas.openxmlformats.org/drawingml/2006/main">
            <a:r>
              <a:t>- /Users/chabing/Desktop/project/alphaearth-reproduction-main/results/gba_real/transformer_results.json</a:t>
            </a:r>
          </a:p>
          <a:p xmlns:a="http://schemas.openxmlformats.org/drawingml/2006/main">
            <a:r>
              <a:t>- /Users/chabing/Desktop/project/alphaearth-reproduction-main/results/guangdong_real/transformer_results.json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尺度不匹配可能是结果不稳定的重要原因。ERA5-Land一个像元约11.1公里，而采样点间距约2.7公里，因此一个ERA5像元范围内可能对应16到18个采样点。这些点的AlphaEarth向量不同，但气温、降水、土壤水分等标签高度相似。随机划分时，同一粗像元内的点可能同时进入训练集和测试集，造成伪重复并使随机验证偏乐观。空间留出后，模型必须预测新的区域和环境梯度，分数就会下降。但目前这仍是需要实验验证的假设，不能把所有差异都归因于分辨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https://developers.google.com/earth-engine/datasets/catalog/ECMWF_ERA5_LAND_MONTHLY_AGGR</a:t>
            </a:r>
          </a:p>
          <a:p xmlns:a="http://schemas.openxmlformats.org/drawingml/2006/main">
            <a:r>
              <a:t>- /Users/chabing/Desktop/project/alphaearth-reproduction-main/data/processed/guangdong_sampling_points_0025deg.summary.json</a:t>
            </a:r>
          </a:p>
          <a:p xmlns:a="http://schemas.openxmlformats.org/drawingml/2006/main">
            <a:r>
              <a:t>- /Users/chabing/Desktop/project/alphaearth-reproduction-main/src/fetch_gba_environment_gee.py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我建议先验证数据尺度问题，再继续增加模型复杂度。第一，按ERA5原生像元编号做分组交叉验证，确保同一粗像元不会同时进入训练和测试。第二，把同一气候像元内的AlphaEarth向量聚合后重新训练，观察伪重复被消除后结果如何变化。第三，按照变量原生分辨率分组，检验分辨率越粗是否对应更大的空间损失。第四，系统改变嵌入提取窗口和空间分块大小，形成多尺度敏感性分析。希望老师指导的是，后续主评价应以常规空间分块为主，还是把按原生气候像元分组作为更严格的主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/Users/chabing/Desktop/project/alphaearth-reproduction-main/src/run_gba_quality_audit.py</a:t>
            </a:r>
          </a:p>
          <a:p xmlns:a="http://schemas.openxmlformats.org/drawingml/2006/main">
            <a:r>
              <a:t>- /Users/chabing/Desktop/project/alphaearth-reproduction-main/src/run_gba_spatial_sensitivity.py</a:t>
            </a:r>
          </a:p>
          <a:p xmlns:a="http://schemas.openxmlformats.org/drawingml/2006/main">
            <a:r>
              <a:t>- /Users/chabing/Desktop/project/alphaearth-reproduction-main/results/gba_real/quality_audit_results.json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1c4cc933444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8b8629b02044b4" /><Relationship Type="http://schemas.openxmlformats.org/officeDocument/2006/relationships/slideLayout" Target="/ppt/slideLayouts/slideLayout1.xml" Id="R2704baade68b4a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04baade68b4a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b8183e74b482a" /><Relationship Type="http://schemas.openxmlformats.org/officeDocument/2006/relationships/notesSlide" Target="/ppt/notesSlides/notesSlide1.xml" Id="R5177fa263df945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c8d5f65cb4269" /><Relationship Type="http://schemas.openxmlformats.org/officeDocument/2006/relationships/notesSlide" Target="/ppt/notesSlides/notesSlide2.xml" Id="R1074bb727fc242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fc7f33dd84d85" /><Relationship Type="http://schemas.openxmlformats.org/officeDocument/2006/relationships/notesSlide" Target="/ppt/notesSlides/notesSlide3.xml" Id="Rb01b10a0658446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b56f820a741aa" /><Relationship Type="http://schemas.openxmlformats.org/officeDocument/2006/relationships/image" Target="/ppt/media/image.png" Id="R8c9e6ea140834336" /><Relationship Type="http://schemas.openxmlformats.org/officeDocument/2006/relationships/notesSlide" Target="/ppt/notesSlides/notesSlide4.xml" Id="Rd9d49bec5a0f45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ab6cdf4fa4f4c" /><Relationship Type="http://schemas.openxmlformats.org/officeDocument/2006/relationships/notesSlide" Target="/ppt/notesSlides/notesSlide5.xml" Id="R5659831917244a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79abadae643d7" /><Relationship Type="http://schemas.openxmlformats.org/officeDocument/2006/relationships/notesSlide" Target="/ppt/notesSlides/notesSlide6.xml" Id="R8e4512f95b0d4c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8665946504739" /><Relationship Type="http://schemas.openxmlformats.org/officeDocument/2006/relationships/notesSlide" Target="/ppt/notesSlides/notesSlide7.xml" Id="Rffc057ef0bb646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eac74a23b4403" /><Relationship Type="http://schemas.openxmlformats.org/officeDocument/2006/relationships/notesSlide" Target="/ppt/notesSlides/notesSlide8.xml" Id="R34e5678cf73540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a7978acbe4654" /><Relationship Type="http://schemas.openxmlformats.org/officeDocument/2006/relationships/notesSlide" Target="/ppt/notesSlides/notesSlide9.xml" Id="Rfeb5c691beab4e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9e9320fcf4bae" /><Relationship Type="http://schemas.openxmlformats.org/officeDocument/2006/relationships/notesSlide" Target="/ppt/notesSlides/notesSlide10.xml" Id="R389c206c285c4c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9e4987c0b4b61" /><Relationship Type="http://schemas.openxmlformats.org/officeDocument/2006/relationships/notesSlide" Target="/ppt/notesSlides/notesSlide11.xml" Id="Rb100d280814e46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24DF4-0141-47FE-B717-48082635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组会进展汇报 · 2026.08.24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AF497-220B-45E9-9DB3-EF264923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AlphaEarth表征向量的</a:t>
            </a:r>
          </a:p>
          <a:p xmlns:a="http://schemas.openxmlformats.org/drawingml/2006/main">
            <a:pPr algn="l">
              <a:def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区域解释与泛化验证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E599D-10F7-438E-80D3-114BCCFE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从大湾区到广东省：数据尺度、论文基准、阶段结果与验证计划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A8AF3-E0F2-40D9-B9B3-127E6ADD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0A6C7-02C6-47A5-8AA8-865BA94F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汇报人：Xuzihan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F0C28-5BD9-407A-8010-4D6C794A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23CB5-FADD-44E0-A806-E48D99FA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8090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AA17982-8834-4EF9-8C4F-5E42E811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这个项目要回答：64个抽象数字是否对应真实环境信息？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C4057-7E98-4ED2-BEE1-E0EDE063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3B8DC-49D6-45A8-A8C9-0193C183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AlphaEarth做了什么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201AE-0B84-4964-B85D-5AC69A65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4572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C748B-03EC-4ED2-B6B7-63307126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一个地点 × 一个年份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D0519-7402-402E-8770-B396D815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57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B8FA8-3896-43EE-8EA0-624401B0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64维表征向量（embedding）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F2C17-46FD-4119-BD63-370A4EF9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它不是温度或植被指数，而是模型学习得到的64个无量纲特征。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860D8-6E30-42C0-B55E-543D7F31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我的工作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494B8-1FB8-46D2-9D08-78AF0CAB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05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14607-A533-4F3D-8C2E-757237B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193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把同一地点的64维向量与26个环境变量配对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0629D-EC07-4EF5-8439-7CA6DDF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23C1-7529-44C8-9CD5-B666D39B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训练模型：仅凭64维向量预测温度、植被、地形等变量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39463-94A4-46F1-8A62-4F8118C0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23E0D-84DB-49AB-AE96-A929BA42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检查哪些维度与哪些物理变量稳定相关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56B92-0738-4164-91CD-21CC7C57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43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EFC63-D3FC-4B7A-9A9E-ECC70451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577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比较随机留出与空间留出，判断能否迁移到未见区域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F525B-0B06-4711-9288-15E54B4B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292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C007A-3351-475C-B5C4-315CC489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核心不是“把模型分数做高”，而是确认分数代表真实环境信息。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0238F-A9F7-4724-B6C6-C9A8A7EB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15EF6-5831-45F1-859F-D7221C1F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41440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4E5022A-7621-49DB-82D9-E38F7709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每条样本由“表征向量、环境标签、位置和年份”共同组成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6EEC6-593C-4046-8336-712486FE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7D8D1-7AEC-4811-838A-551A9D37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3DFA2-F5BF-4C21-B7BC-3E8D58A1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3EB2E-E4B6-41EE-A3CA-E0E5E38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8C8F5-2C1C-4187-BFB9-76316149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建立采样点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E9DE9-1851-4DA4-B6F8-CE63D44A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0.025°规则网格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记录经纬度、城市和年份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4252B-5749-433F-B5F8-F0C97262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621D9-F859-4363-9617-8BAD0820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18B39-D791-4E69-BC65-10F33429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20F80-E86F-48F8-986C-E8E142A9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配对两类数据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3D6DC-ED4A-4FAC-8771-8A0B786E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64维AlphaEarth向量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26个目标环境变量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5E9EB-B9FD-40E4-9475-2FB5D424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85951-0331-451B-8C97-AABB9A10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D60CA-3E3D-4D73-B1CE-3C696B5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6C04E-4511-4BF0-A244-494CB39F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训练解释模型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01C85-C8C0-4ECB-856B-B28D9B0D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相关分析、随机森林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注意力回归模型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7D9EB-866B-4922-B4EC-6F418F10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B0868-8C49-4B3D-9759-98A132F4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62220-FA6E-4A1A-B03F-6CF1939F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0">
            <a:solidFill>
              <a:srgbClr val="B84B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6BF86-7833-4C80-9DB8-B7153162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验证是否可靠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4BDBED-043D-4250-82CD-6F01887A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随机交叉验证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空间分块与时间稳定性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02958-9E8B-40D4-AC9F-1779942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3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E4355-9B8A-438D-A5D3-FE5B2DA1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9527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3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726ADA-DD72-45A9-8C83-986C1D45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3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31496-810E-45C4-9CC6-7914E8B2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677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276DD8-521C-447B-8458-AF5FD6A0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术语说明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891FC2-D2F1-4570-A4B8-C4B0025D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62550"/>
            <a:ext cx="871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表征向量＝模型学习得到的特征；目标变量＝希望预测的环境量；泛化＝模型面对未参与训练的新区域时仍能有效。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91E867-F6FB-44BA-B9D1-DD633B13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BDFC38-2106-4AFF-9AAF-0B90AE77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2259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B858D32-0D2F-4CCC-8026-29E91CCC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当前数据已从大湾区扩展到广东省21个地级市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42DD6-DDEF-4858-8848-ADD4D88D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06637-793D-48E6-9234-5C5B10B4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广东省数据概况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3234F-CA7B-4EA6-8107-F969B13D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25,125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06A47-BBF4-4844-A5FB-AC02C8A5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002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每年独立采样位置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8FF36-C91A-40EC-8395-1C7C1B06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908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175,875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94749-13B5-4FD6-9ED1-C91AE079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384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2017—2023年总观测数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24C8E-F6A9-49C6-9FFF-979D9A4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7年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B8C47-14E0-45A1-BBCF-53420127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766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每个位置按年度配对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13F0F-7448-4F3B-B3C2-EF0C7ECC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008A7-8A9E-4E68-A1D9-8BB7FD6E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148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项环境变量，覆盖地形、土壤、植被、</a:t>
            </a:r>
          </a:p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气候、水文和城市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E8CDB-C920-40FB-A550-104F7EEC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7CD86-018A-4752-A9F2-040CC181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一行数据＝某位置某年的64维嵌入＋26个环境变量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BE515-8403-4E89-A8E0-CDD2BEC3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52550"/>
            <a:ext cx="5476875" cy="46672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e6ea140834336"/>
          <a:stretch xmlns:a="http://schemas.openxmlformats.org/drawingml/2006/main"/>
        </p:blipFill>
        <p:spPr>
          <a:xfrm xmlns:a="http://schemas.openxmlformats.org/drawingml/2006/main">
            <a:off x="5762625" y="1662774"/>
            <a:ext cx="5476875" cy="4046802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94818-6534-48F7-AF44-277292F6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12474-842F-4D99-B6DB-EB0F7FF5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56373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6DAD891-E7FB-46ED-B745-2AA5B7EC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“10米分辨率”只描述原始影像，不等于训练样本尺度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7C8F2-85D5-4F54-955C-56CF9CA0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D03EA-C3EB-4A38-BA90-D01B6412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必须区分四个概念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96CA2-7053-43DA-B740-4D5543BE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24F5D-E929-40D6-ACEB-7F3969F4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C9805-1C1C-4D29-B8E8-A6FFE73E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10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4E9A5-F9E3-4D73-A739-02464DA7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原生空间分辨率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A5EBF-7603-41A2-9088-EB6EE437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AlphaEarth官方影像的原生像元为10 m × 10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9B45D-BA1E-464A-8344-0566A73B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C4AD2-3528-4D3B-BC31-73177C46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628D1-4C51-40AF-BCF9-F09314B9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约1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2ECCE-9807-45F6-A291-950544DB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嵌入提取尺度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A3D5E-D886-4EED-93D5-7330033B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500 m半径缓冲，按1 km尺度提取64维均值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C58AD-640C-48C8-AB37-E6989F2E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82C15-E1E0-4BEB-815D-BAB69BDF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38038-6A8A-4D77-8817-6EE12365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约2.7 km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B4A23-3CA4-44DB-BB13-202298FA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采样点间距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94835-2F6D-4EFA-893E-ECC83978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0.025°规则网格决定样本中心之间的距离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A1287-C133-4F7D-AE25-C54E4350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C"/>
          </a:solidFill>
          <a:ln xmlns:a="http://schemas.openxmlformats.org/drawingml/2006/main" w="0">
            <a:solidFill>
              <a:srgbClr val="FAEC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FC7E3-041E-4BF5-B92F-4A612915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0">
            <a:solidFill>
              <a:srgbClr val="B84B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8D6F7-5323-46E6-8F78-D89AF55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6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30 m—11.1 km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FD79D-F49A-44E7-9B9C-B818BABB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环境标签分辨率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1119AA-2652-4963-A544-DE02511C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不同环境产品的真实像元大小差异很大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58179-9BE5-47BA-AD88-7D4F07F2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6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9B54D0-8954-4718-AB0F-C38978AE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6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A4D81-8CCA-46AC-B794-803FFE0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6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4861EF-0D1B-4521-9A3B-419CF79C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925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B0D52-ADBD-421D-8DAD-F932947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规范表述：GEE是处理平台；10米仅指AlphaEarth原生像元；当前单条嵌入的空间支持约1公里。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C6B086-08E4-4D22-B4A9-84B1E1E5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4D9916-F85A-413D-9085-757CC344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65977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4B4B904-A258-41B7-84A9-260DF569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26个环境变量的原生分辨率从30米跨越到11.1公里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13107-DF96-4F81-9B77-CE89C253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B82EC-DBE2-4591-9D24-42A7E7E2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像元边长越大，空间信息越粗；重采样到10米不会产生新的局地信息。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C4352-8D18-482D-88E9-837F911B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EF10A-36FE-44EE-B41C-3AD50790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类别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F9242-37ED-4A76-BB69-F821AC0E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19250"/>
            <a:ext cx="3667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B379D-7D85-47C7-A56E-25F7B17A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954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代表变量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67472-BF6D-47C7-BF9D-15362736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192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370CF-5ABB-4F55-B57A-C36B34BC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实际数据源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7DF17-2D52-4A4E-A27E-878F4075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19250"/>
            <a:ext cx="2971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E622B-0BCD-4038-A78D-02F3DE9D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695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原生像元大小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05484-B2F4-406D-B99C-247421B6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81CCE-DC42-4FE8-A4C5-B6C3770B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地形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3DAB4-C513-4108-9AF1-1A8D195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57400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BAD5D-B43A-4A9F-AD4A-B92F3693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33600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高程、坡度、坡向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7F63B-9A1E-400D-A63A-C8DA6F3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057400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BCD9D-AA46-44FA-9E8C-9352F311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3360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SRTM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35BC2-A8B1-4841-8DCF-7739E132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57400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0C169-F04E-4E13-B4EF-7750EE6E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33600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30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9E1CF-C939-4C7D-A047-DB654FAA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7B8DE-38B7-4F91-9952-5B79EE07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土壤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F8939-FC23-4145-9047-292DF099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62225"/>
            <a:ext cx="3667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647DC-6E75-45F1-B453-99A3D4F8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3842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黏土、有机碳、pH、持水量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7D907A-C5FD-4EFC-BDF6-0A36F13C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622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AE5E38-C51A-4FE2-B46C-ED021463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384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OpenLandMap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354BB-9559-4B9D-ABDC-6DCD9C61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62225"/>
            <a:ext cx="2971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7DEBF-B8AE-40E2-8530-08890C4D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384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250 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370F17-13DE-4255-BDCE-25CB486A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2CE4AA-73B5-48AC-9373-95CD3216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植被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48181E-6A59-4EAB-B2DF-AF2A791C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33725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3BAA0B-61E9-4D01-8127-5D19C7C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9925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树木覆盖率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11F120-300B-47C4-BDC8-17C902A7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33725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D94CF4-3AF7-43AF-B9C8-6A8785D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0992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Hansen全球森林变化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C2349D-A28F-40CA-86F7-D890BFDB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33725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2577D8-87B4-4973-85F9-95B6C27C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09925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约31 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A73EC2-A2BA-438B-BF66-BD654C8C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78409B-B625-4E57-9CE5-22ACDE33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植被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9F4C0A-AFBF-4086-8790-23D57646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38550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DFD578-EFFF-40D2-98EA-FE167221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14750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叶面积指数、反照率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AB6740-6939-4F9B-A920-5F60D8E5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38550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1D7C51-7761-4F4F-9E5A-5047446D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MODIS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8FD3CC-CDB4-415A-8E9C-33BD4F60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B863E3-E7C0-4CB9-8EF6-1C0A34AF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714750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500 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26ADBE-E356-47A6-8855-75FB107E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F6B707-C773-4D51-8717-8A251BCF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238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植被与地表温度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A7D172-166A-4631-A49F-01688533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3667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44FDCF-197A-4A4F-8336-F09728A7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19575"/>
            <a:ext cx="347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NDVI、EVI、日间/夜间地表温度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3572AD-D942-428F-8B5D-276BA021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143375"/>
            <a:ext cx="2857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F38290-5401-4142-8E30-2F2C3FF5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19575"/>
            <a:ext cx="2667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MODIS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5BDC8E-163D-4093-B7CA-7A08E3A8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43375"/>
            <a:ext cx="29718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0ED42D-32D7-4283-8E0F-F21637B2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19575"/>
            <a:ext cx="2781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 km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C48039-D93E-49E3-9B86-8ED127BB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7ECCF1-1D70-4DF9-8361-1D13EA32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气候与水文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B00A51-8166-4E4F-B020-4ACB74B0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43450"/>
            <a:ext cx="3667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6DD4B4-5DA9-4628-89AA-66542311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196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气温、露点、降水、土壤水分、径流、蒸散发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E8E31A-433B-438A-9147-222FFBEF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7434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C9B892-D9FC-4E87-8DBC-2680847A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8196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ERA5-Land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7A7ED8-246B-48E4-A962-5C6F4736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43450"/>
            <a:ext cx="2971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B41CCA-450E-47E3-94FF-FC8B058B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196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约11.1 km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3C330A-37B9-4169-9B07-97BE656F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417333-1DF8-4F67-B504-AEFF46E8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城市环境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1914ED4-5E93-4A3B-8754-254C8C07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10200"/>
            <a:ext cx="3667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475127-2CCD-4628-B7B9-2DAF6A03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864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不透水面、夜间灯光、人口密度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DC37D0-14D9-45F2-827F-3D798E77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4102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731E0EC-2495-492D-A94C-ADF8669A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864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WorldCover / VIIRS / GPW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ED7143-D676-49A8-B8F0-812EDA0E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10200"/>
            <a:ext cx="2971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9B3518-7266-43D8-ACDA-78B4ABE4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486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10 m—1 km；</a:t>
            </a:r>
          </a:p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不透水面按500 m邻域统计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1DCAF22-88C8-434C-9EB7-EA64A571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DF396D5-0680-4FDB-9460-6E7CA7E9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64028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726848D6-4DD8-40B1-BAD9-010CC8F0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核心提取口径已经对齐，样本规模、标签来源和模型容量仍不同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56DFB-D68E-4B7C-900C-8C7B6805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71213-6BD5-4350-A90B-69E4BF6D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61161-5EAA-4E31-A8F3-75D072F4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比较维度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5DAAA-F0A3-4F2D-AD1A-421ADBF1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35255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458C3-DC4E-4A7C-BBE9-4E4F92C5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287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原论文（美国本土）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218D1-9AC7-4746-903C-B2E0DE47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352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F9698-701B-4240-A22F-7860731D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428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大湾区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6FE39-4BCD-4993-8E53-1D0E146A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352550"/>
            <a:ext cx="3067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E4B81-AFF0-49F5-9E28-0DC0497A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287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广东省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0D941-7D1A-436C-B139-9C1BC90B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486A2-7B5C-4BA6-9E84-F997414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研究范围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D4C4B-D098-441E-90E8-6A2A70C1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5260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A9361-A315-47B6-BCA7-E31F80DD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288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CONUS，美国本土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29BF6-2A33-400F-AEAA-0D1486D0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752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EB018-603D-42D3-A8B6-A941F477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28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11个城市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357D8-0F5B-4EE6-8BDE-D9F56588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52600"/>
            <a:ext cx="3067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BC5A2-88AC-47E9-9256-C67849D1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28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21个地级市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485DB-1F39-4D23-AF2B-5229B5B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8ACA1-527D-427E-B140-F1C4BC54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年度记录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23EB1-453F-4A71-925C-910EC4F4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52650"/>
            <a:ext cx="319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2CDDF-7201-4328-84C5-F3DCB550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约173万/年；约1210万总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4D846-C1C2-4CE7-978E-7AA3F845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1526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58F8D-43CE-4D0F-9CDE-69531B56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2288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7,802/年；54,614总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FDED1-4289-4204-BF98-E47B6870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52650"/>
            <a:ext cx="3067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FFE7D-C2B9-4A43-A823-569D23A3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288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25,125/年；175,875总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8F50E4-B580-4ADC-A485-51D9CA9F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CE288-576B-4FC8-8AC9-64B942FE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时间与网格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F2EE0C-6488-4164-9928-5A213F9E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4795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D7C864-3BD0-431E-A1C1-35B1A4A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241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2017—2023；0.025°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8B0832-C535-4D6C-9A18-D383F57C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47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69B65A-0038-4C37-A4B7-CDCB5945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2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EF75F6-A6A6-4310-88C3-5387B5B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47950"/>
            <a:ext cx="3067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ACFD86-447F-4ADD-8A17-5D4D3756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241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F5BED2-330E-401A-84CF-288C5575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668246-F411-4726-8D41-D5A57B30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AlphaEarth提取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704E5E-009A-4BCE-B3F4-8136F57B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4800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0FEF53-CCF3-4E4C-84AE-64D21FC1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242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64维；1 km；500 m缓冲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E03130-7A6E-46D4-ACAA-F2DD915E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48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7E8E88-D065-4EEB-BEB6-C7F8758C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242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3B60A1-7E07-4D4B-83E0-2E849924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480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13C2DA-B213-4A4E-8ABB-898769D8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242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ED9255-69EA-4FE8-AFDC-AC7E09EE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B8C42A-AFE0-4804-AFFA-895AB342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气温与降水标签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E14423-B3BF-49D5-94B8-86A392B2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05200"/>
            <a:ext cx="319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6216FE-FE2B-45BB-9D0C-270BB735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814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PRISM，约4 km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44AA5A-C6E8-479D-9AD0-AEDE61C4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5052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202386-1B92-4DAA-9BE0-14B61688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81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C584C8-2228-4893-92D0-C4C3DC8F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05200"/>
            <a:ext cx="3067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279D52-407F-4F1C-815C-83128803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5814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F72C6E-E277-4685-9CD7-05FF8946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39543B-3E89-4764-9628-9C893724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水文标签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731888-0F4F-481A-9764-5C9090E9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0050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E48113-757D-4DEC-B9DF-AC48ACA9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767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ERA5-Land，约11 km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825702-A81B-4C95-AA36-4E31DF16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000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60F593-ECD6-471A-98B8-C70ACD5D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76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EBF212-9504-4987-BCF6-D0C7C3E5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005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4D8D12-071E-4E2E-B54F-F9836CE9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0767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EA15BF-651C-46DB-A4BB-9E281081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9B7151-77C3-473D-AF5C-071503B0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随机森林训练量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F265D3-F726-4E75-9D5E-4B7B67AE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5770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170E8A-C6E3-469C-8E49-34C5A51B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每个变量最多70万条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98C343-FDFF-4C91-A5B3-91B6229F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4577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A56BEA-F653-4190-A8E5-3F00B78C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533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每个变量最多3万条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172DBA6-83C3-478D-96A4-19BA91FB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577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0B5F323-44F6-4DED-8D71-EE5905AB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339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每个变量最多3万条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D348EE-5505-489C-9E67-8C2C476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AE5C34-5D2E-46A9-B7E0-15CCC675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Transformer规模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749C995-9A39-49A3-9D2B-5051C501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45FD814-D531-4AFD-8337-2FDD3A17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911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500万条；4层8头；60轮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C3A40A1-D65C-4DFD-8C0C-716E78C4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9149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523D0A-29DC-45DE-BCE1-4EBC8226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91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3万条；2层4头；12轮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E03BF3-819D-45CC-809F-343B8D18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914900"/>
            <a:ext cx="3067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0C02D9-FAE1-484B-A213-7AC3DFE4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9911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3万条；2层4头；12轮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6E164F9-6B33-4ADA-A189-AD734DD8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BE4C479-7089-4D1F-86C3-F83BBDEE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空间交叉验证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E7C05C6-2E63-444A-BB6B-66754391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2925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DD38AF-37C6-4A9E-95FE-36483049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054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2°×2°分块；5折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D46F7C3-A46F-46E8-A5B1-C0C445F4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4292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A4A16D-9BE6-4B0F-A205-EE24B86F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505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0.5°×0.5°分块；5折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C92F37B-5AEA-4F3C-9663-2A4106DC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4292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0C320B-D706-4A69-8C88-BD05BFAA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5054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0.5°×0.5°分块；5折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593A350-253C-442B-844B-916EBA05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925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104D14A-9838-4DA4-BB52-73532806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结论边界：这是区域方法复现，不是等样本、等标签、等模型条件下的数值复现。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0CA5C4D-2A26-4569-9F66-714389B4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3468D9C-E65C-4FC8-9789-9471D107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43990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D36EC438-0640-4470-8AE8-33526263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四类分析分别回答“相关、可预测、可解释、可迁移”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3A7AD-DFC7-431F-A4AA-334160DC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9A4F1-F3FE-47D3-939B-8A09F01A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1381F-AC50-457D-983B-DBD64D60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2B0AC-755B-4DC0-9DB9-63ED986F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DA9FE-AD2A-4F6E-8A20-CE8E728D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相关分析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87F0E-6DB3-4D7F-B006-9B5E2C50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Spearman秩相关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B4038-890B-484F-BCB0-2A40990A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寻找单个表征维度与环境变量之间的单调关系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43CF6-A5A9-41DA-88AC-84116ADB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FFDB7-9488-4A89-9137-E3CC9F44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DD2C3-7D86-4A73-B907-E0C01EC3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50FB9-CAAB-4C36-BFDC-EFA29646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随机森林回归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BA35B-0CE5-4DCF-BC8E-7454FB96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非线性预测模型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00DA5-0876-4F50-9A51-C1ACC481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用全部64维预测每个环境变量，并计算变量重要性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32459-CE02-4AC3-A0F5-36B51192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B064F-7A3B-4FAB-AE36-78620C68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C9CEC-56BA-4BA1-A3AA-EAC1E743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A5AD1-48D6-4810-AD2F-43405A38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注意力回归模型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7BD56-B0B0-477B-8B1C-DA69D01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紧凑Transformer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B3313-D752-409F-B875-B537C351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检验多维联合关系，并与随机森林的解释进行比较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1A25B-5B8F-4F02-B8D6-B28B7B50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7416E-3106-42EC-9584-510D0250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0">
            <a:solidFill>
              <a:srgbClr val="B84B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032E3-9597-4B73-8E3C-71AF0BF6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6EA3A-482B-4E87-A66F-7ADA5485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交叉验证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AC193D-E5B7-4787-BA33-ADA6A9EE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随机留出与空间留出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FFF3D-2262-4858-AFF1-6E25E41E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比较模型对普通测试样本和未见区域的预测能力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B711CC-AE20-4395-A2C7-1A7DEA37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1091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68A8D1-CA07-4F48-B39F-69070623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决定系数 R²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6AAED-4707-4608-B082-8444C040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越接近1，预测越准确；接近0表示与直接使用均值相近。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BB1470-5C02-4737-9396-54BF77E9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空间损失 ΔR²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38473C-88E4-417A-90C2-34ECA872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00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随机验证R²－空间验证R²；越小表示区域迁移越稳定。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F39111-00B7-4590-891E-C27D4E8F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BA1B5B-0026-48AE-A850-8C93B247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29180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FF2D4178-FB55-4863-B20A-1BA3C7DA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与论文相比：单维相关信号出现了，但强预测和稳健性仍有差距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43D86-F859-4F9B-9479-5BC9F247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FB95F-8300-4C9F-9BAA-501B7CAE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9B3FA-6301-4555-A73C-8ACA5258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比较项目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1634E-4C48-4FAF-96BF-E0A69F3A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81125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0837E-5CBE-4CF5-86E2-FE53BA91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573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指标定义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1C4DC-C1EA-4C6B-AD9E-2E552A57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81125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EC9B5-DE52-4584-A744-88047559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5732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2DAD2-AAB4-4DF7-A94F-260EB042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81125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78796-FAFB-4623-9B96-C7B3CEB5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45732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大湾区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C4AA5-1410-4A0C-8993-8DAF205F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381125"/>
            <a:ext cx="1971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2D9DD-81DC-4354-A756-0634A0E9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57325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广东省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FC06A-2916-45D7-BB1A-AB40FB23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022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41A25-0DD5-4568-830F-503DED4A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强单维相关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1B0EA-E87C-477A-8AE5-2B7E8EC8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0225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37818-2AEE-4B84-9E90-466CDC88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764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每个维度的最大 |ρ|＞0.5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3DAF1-6A6C-4F36-B6FF-E0372080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02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87266-F2BB-4EE7-9C72-B7048131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34 / 64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FA049-11DF-48B4-BA2E-18159CAC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8002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5FE4E-B1BD-413C-8BDC-1C75DEA7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8764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33 / 64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DDD2CF-6E19-4590-AEE2-724BC2DC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022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82168-C1A1-4D6E-8951-26EA48D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76425"/>
            <a:ext cx="1781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29 / 64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4CDC7-54DF-4B5B-9F54-B2827788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F883B-B72D-41A6-BFE3-28CCFF2E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随机森林强预测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E5451-5C63-4F70-A94E-8AFF640F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95525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EDEC4-6287-4F0F-9143-8F3602EF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717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随机验证 R²＞0.90 的变量数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AF4E20-C130-4064-913F-F544C2B5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955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4D64B8-CCD1-4A56-B10B-B82CA06B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12 / 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335730-88F1-4F90-AA6F-032F9C18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955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D93790-D68D-45E1-8E57-0B556DF8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717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1 / 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FC63E8-51AA-464D-9AB3-C93806C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9552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A49C5B-1D85-4EBC-B001-B28652FF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71725"/>
            <a:ext cx="1781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 / 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6A8298-7782-425F-8D3B-CA0AFCC1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5DFE7F-66E8-4B55-B28D-E69ED290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Transformer强预测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F67821-DE67-4394-A7E2-F3271591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90825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B90D9A-B941-4BF5-961E-B522B48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670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随机验证 R²＞0.90 的变量数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7A28A2-EC91-4382-B7A2-DBBD4F51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908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F139AA-CA81-43F3-BB10-688C59D0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670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14 / 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23ED9B-C3B7-4D9C-9928-386F88F3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7908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B7B7E4-30C3-415C-82B9-E16044E6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670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 / 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40D1CB-A2A3-421F-BAE0-4C98BAB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9082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200B96-6D45-4A16-A8FB-CDD31B6F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67025"/>
            <a:ext cx="1781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 / 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8BA1A2-F9A2-4247-A416-54796E96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612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E3C023-4D69-40D1-828E-1ED00764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62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随机森林空间损失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B6F194-E5A2-4604-A6BA-F335FBF2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CC699F-A732-4F6D-8350-8B64AD2C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623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前10项平均 ΔR²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826345-8FE2-45E2-86C8-79C6FFC4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861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CEF679-D129-4691-A3EF-122B0328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623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0.009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C76BC6-0631-45FA-8DBA-292982C8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2861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7F194B-611B-4545-A1A9-06603FF6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3623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0.291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7E4FA4-9348-430A-9DE2-2CB51B1D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8612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673AE9-7FAD-4EC2-A38D-F27EAF48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62325"/>
            <a:ext cx="1781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0.067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89669C-30FE-47CD-85FB-EDFC4F60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E7ED64-A9B8-4444-86AC-775D97B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Transformer空间损失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A42526-E039-4AA2-A9AD-F6A3C163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81425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BE2A97-04D0-4B5C-93BF-AA555E34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576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26项平均 ΔR²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2436FB-013E-4860-AB32-E74203C8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814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1B3183-5830-4B8F-A192-2F40DB58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576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0.017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1AD8E7-B4BE-4AEF-BEA5-65F85A4B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814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EAD635-E926-43B3-A98D-B9042E3F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576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0.213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DEBD28-CFBC-4420-A866-FBEF9202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8142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0EC45D-70FC-48FC-985B-487E1C13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57625"/>
            <a:ext cx="1781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0.087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ACC743-B4FD-4174-9967-A938CE7A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DD0430-3924-4AD3-BE1E-5DC068B0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时间稳定性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5B76626-53D3-4956-8EFB-9C0FE3E1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76725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CE7490-A0DE-414D-8C63-D4A644A3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529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年度相关轮廓平均 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03BCD8-B097-4664-B79C-301D5FE5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767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5932121-8CF4-4AB4-A427-5BEF1E91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529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0.963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C114AE-BF28-4C0F-93C9-134837E0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767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8F8C9FF-5CD3-4B9D-8BDB-4F7588EA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3529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0.869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ABBB7F2-D580-4D8F-B7B2-6F14F23E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7672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CADD46C-95B0-40EE-A8A6-88414735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52925"/>
            <a:ext cx="1781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0.866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47E7E68-D3C8-46CE-AA88-72193A14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EDEE01-A7E2-4C68-AE64-529BCEAA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方法一致性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066103-F656-46FC-87A9-41E492B8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72025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B27DD8-D955-4355-B42A-DF76DAC9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482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|ρ| 与RF重要性相关 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99093C2-3BD5-430C-BB4A-91900BC0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720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FF3A0BF-87F9-415B-B714-51D053F3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482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0.450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1B783BD-233A-415E-9A7A-F918541C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7720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E696B57-13F6-4B0E-8DB1-1F895703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482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0.215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7D5F5E4-40E9-431A-AD85-0748836F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7202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7F0C7E7-F401-4D7F-9C38-1BFCC68E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48225"/>
            <a:ext cx="1781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0.231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C1DE2CE-47FB-41BA-8D29-B9AF27A1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528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29DA277-7C2F-4366-A39B-2D8F194B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已复现：多数维度能找到较强的环境相关信号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628C76F-BD90-475C-8B8F-1AE18C85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528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619B30F-EBAD-4DCF-9A56-76C038FC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721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未达到：高R²变量数、空间稳健性和跨方法一致性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0EE9853-7033-40B9-B620-FEF6BF70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8F544A3-7BB4-4BA0-BC9E-BC66E40E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9382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8B412554-ABB8-4785-BDF7-90253926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气候标签过粗，可能同时抬高随机验证并削弱空间泛化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C088F-8493-44CB-B499-CCEDE785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A30DC-209D-4979-94D2-E0FC807E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一个ERA5-Land像元：约11.1 km × 11.1 km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870B2-3867-48E5-BA8F-F6252236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C"/>
          </a:solidFill>
          <a:ln xmlns:a="http://schemas.openxmlformats.org/drawingml/2006/main" w="19050">
            <a:solidFill>
              <a:srgbClr val="B84B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60C63-23AD-455B-87B1-9F28E8E7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D1B27-8564-4E25-BBE5-22A13F77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F6605-8068-4DD9-870C-46DA0AAD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3792C-4902-4E8D-82CC-4F39CFB2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29B6B-74C0-46E6-AD5C-2168F3DC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19FB3-8821-461C-BF11-3BD2FB89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EC7DC-3CF8-4EA4-A7EB-5F017542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64F94-461C-49D1-87D4-535D4A05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15837-4EC8-4A42-A472-BBA884BB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6C09E-0A0C-4B40-BB92-36CFABC0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C68DF-71C3-453C-88AE-C21AD19F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8C02A-F690-4E7E-AE15-46D70D15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47A99-3634-40DF-9AF9-0D8B1D76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FEAF7-FB68-45F2-86DF-888446E2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A1FAF-3D47-4413-BF95-02406F40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D46FE-3949-412C-9C00-496D76E0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0DB5E-36DB-4072-B513-26E3EC62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约16—18个采样点可能来自同一粗气候像元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9A1E4-79B1-4F1A-AD2F-5B9CA6D4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每个点有不同的AlphaEarth向量，但气温、降水等标签高度相似。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D5763-CA66-4059-8BAD-6CBDBC1D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43250"/>
            <a:ext cx="52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67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0F752D-C6D7-46B8-A608-415B977D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F9FFC0-EB7D-4106-B14F-838C8FFB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随机交叉验证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E590FE-A646-41A6-9A68-15831BC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241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同一粗像元内的点可能同时出现在训练集和测试集，模型容易利用共同的空间梯度，测试分数可能偏乐观。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32DCC8-E5EE-4C27-B629-A5832D6F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74252-C111-4732-8302-EAC16333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空间分块交叉验证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980FE-1B17-4A86-9F80-15B76D88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291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整片区域被留出后，共享标签和邻近信息减少，模型必须迁移到新的环境梯度，因此分数更容易下降。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5FC6F1-3BB1-4553-A646-78C56EE1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721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038520-71C3-4D69-A80C-371D3957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76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这是待验证假设，不能在补充实验前直接作为唯一原因。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9D0284-CF81-46FF-A3C6-7568D20F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E540A5-42CC-4632-AD5E-BEF40468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11215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745E7887-2792-4ABB-A8B3-20160072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下一阶段先验证数据尺度，再继续扩展模型和应用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60EC1-9800-4046-9A0A-440CB773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AFE05-A8D1-49DB-B850-521A5151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CA674-6475-40E0-89F5-1513DE9F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0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269AB-9612-4CCC-B51F-6900E86D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95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按ERA5原生像元分组验证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F0CAB-BE5D-4382-BFAA-1976781D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同一个11.1公里像元不能同时进入训练集和测试集，消除伪重复。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07CA7-6669-45A5-A513-68C7B48D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E21C8-6EB2-46E6-A582-3CECAAA6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925B5-8198-4AFF-9B97-2F763099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5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将嵌入聚合到标签尺度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13474-1F15-42BA-9ED1-CD8370DA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比较“一个采样点一条记录”和“一个气候像元一条记录”的结果。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0A9B6-F6C0-4DC5-90A2-FBC031AA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916CF-ECCA-4565-B24E-1D568453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4CC0E-580F-4989-A06C-BB79DA42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95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按原生分辨率分组比较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1A7B9-E1D2-4E07-AB9A-0F5DA5A2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检验30米、500米、1公里和11公里变量的空间损失是否系统不同。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AC370-37BF-4226-BDE9-7A6AED31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C9FC6-649F-40A5-B43E-3928527F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139B1-5C63-4671-9326-264A76D6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完成多尺度敏感性分析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8B99F-7693-43D8-95A7-2B67D22D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改变提取窗口和空间分块尺度，确定结论在哪些尺度上稳定。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43A5C-13D7-4064-A381-5F4D68C8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09251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48CCC-0EA5-438A-8AEE-302A7988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希望讨论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29439-BCC1-49FE-BFEA-FC6FEB1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主评价应优先采用“空间分块”还是“按原生气候像元分组”的交叉验证？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C76336-A1BF-4B1A-A1AB-6DE35E5F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DE7D4-9A6A-4D21-8D88-9C6966DC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1124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2026-08-24T05:24:01.2740000Z</dcterms:created>
  <dcterms:modified xsi:type="dcterms:W3CDTF">2026-08-24T05:24:01.2740000Z</dcterms:modified>
</coreProperties>
</file>