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5a1fc992b4464" /><Relationship Type="http://schemas.openxmlformats.org/officeDocument/2006/relationships/extended-properties" Target="/docProps/app.xml" Id="R5a6957f19ccd45c5" /><Relationship Type="http://schemas.openxmlformats.org/officeDocument/2006/relationships/officeDocument" Target="/ppt/presentation.xml" Id="R2d152ce899e04f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858ce63734f78"/>
  </p:sldMasterIdLst>
  <p:notesMasterIdLst>
    <p:notesMasterId xmlns:r="http://schemas.openxmlformats.org/officeDocument/2006/relationships" r:id="Rfa5c07a4c91a4f49"/>
  </p:notesMasterIdLst>
  <p:sldIdLst>
    <p:sldId xmlns:r="http://schemas.openxmlformats.org/officeDocument/2006/relationships" id="256" r:id="R69e9add9ea1746f3"/>
    <p:sldId xmlns:r="http://schemas.openxmlformats.org/officeDocument/2006/relationships" id="257" r:id="R5520953406804409"/>
    <p:sldId xmlns:r="http://schemas.openxmlformats.org/officeDocument/2006/relationships" id="258" r:id="R20fe5eab59c841b4"/>
    <p:sldId xmlns:r="http://schemas.openxmlformats.org/officeDocument/2006/relationships" id="259" r:id="R96e0b8b20d924dc7"/>
    <p:sldId xmlns:r="http://schemas.openxmlformats.org/officeDocument/2006/relationships" id="260" r:id="R62b6a44da0304931"/>
    <p:sldId xmlns:r="http://schemas.openxmlformats.org/officeDocument/2006/relationships" id="261" r:id="R807cc406c32b4dd6"/>
    <p:sldId xmlns:r="http://schemas.openxmlformats.org/officeDocument/2006/relationships" id="262" r:id="R8773ebeeb5b94709"/>
    <p:sldId xmlns:r="http://schemas.openxmlformats.org/officeDocument/2006/relationships" id="263" r:id="R6902a2d2fe504dbe"/>
    <p:sldId xmlns:r="http://schemas.openxmlformats.org/officeDocument/2006/relationships" id="264" r:id="R180d4ebde3c64d62"/>
    <p:sldId xmlns:r="http://schemas.openxmlformats.org/officeDocument/2006/relationships" id="265" r:id="Rff1790916b724541"/>
    <p:sldId xmlns:r="http://schemas.openxmlformats.org/officeDocument/2006/relationships" id="266" r:id="Rfa57d71f65654158"/>
    <p:sldId xmlns:r="http://schemas.openxmlformats.org/officeDocument/2006/relationships" id="267" r:id="R3cf1dbdf8ab64318"/>
    <p:sldId xmlns:r="http://schemas.openxmlformats.org/officeDocument/2006/relationships" id="268" r:id="R8de515592133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e609beaa6d4db2" /><Relationship Type="http://schemas.openxmlformats.org/officeDocument/2006/relationships/slideMaster" Target="/ppt/slideMasters/slideMaster1.xml" Id="R377858ce63734f78" /><Relationship Type="http://schemas.openxmlformats.org/officeDocument/2006/relationships/notesMaster" Target="/ppt/notesMasters/notesMaster1.xml" Id="Rfa5c07a4c91a4f49" /><Relationship Type="http://schemas.openxmlformats.org/officeDocument/2006/relationships/presProps" Target="/ppt/presProps.xml" Id="Rb0da02e427584886" /><Relationship Type="http://schemas.openxmlformats.org/officeDocument/2006/relationships/tableStyles" Target="/ppt/tableStyles.xml" Id="R03790db98e024948" /><Relationship Type="http://schemas.openxmlformats.org/officeDocument/2006/relationships/slide" Target="/ppt/slides/slide1.xml" Id="R69e9add9ea1746f3" /><Relationship Type="http://schemas.openxmlformats.org/officeDocument/2006/relationships/slide" Target="/ppt/slides/slide2.xml" Id="R5520953406804409" /><Relationship Type="http://schemas.openxmlformats.org/officeDocument/2006/relationships/slide" Target="/ppt/slides/slide3.xml" Id="R20fe5eab59c841b4" /><Relationship Type="http://schemas.openxmlformats.org/officeDocument/2006/relationships/slide" Target="/ppt/slides/slide4.xml" Id="R96e0b8b20d924dc7" /><Relationship Type="http://schemas.openxmlformats.org/officeDocument/2006/relationships/slide" Target="/ppt/slides/slide5.xml" Id="R62b6a44da0304931" /><Relationship Type="http://schemas.openxmlformats.org/officeDocument/2006/relationships/slide" Target="/ppt/slides/slide6.xml" Id="R807cc406c32b4dd6" /><Relationship Type="http://schemas.openxmlformats.org/officeDocument/2006/relationships/slide" Target="/ppt/slides/slide7.xml" Id="R8773ebeeb5b94709" /><Relationship Type="http://schemas.openxmlformats.org/officeDocument/2006/relationships/slide" Target="/ppt/slides/slide8.xml" Id="R6902a2d2fe504dbe" /><Relationship Type="http://schemas.openxmlformats.org/officeDocument/2006/relationships/slide" Target="/ppt/slides/slide9.xml" Id="R180d4ebde3c64d62" /><Relationship Type="http://schemas.openxmlformats.org/officeDocument/2006/relationships/slide" Target="/ppt/slides/slide10.xml" Id="Rff1790916b724541" /><Relationship Type="http://schemas.openxmlformats.org/officeDocument/2006/relationships/slide" Target="/ppt/slides/slide11.xml" Id="Rfa57d71f65654158" /><Relationship Type="http://schemas.openxmlformats.org/officeDocument/2006/relationships/slide" Target="/ppt/slides/slide12.xml" Id="R3cf1dbdf8ab64318" /><Relationship Type="http://schemas.openxmlformats.org/officeDocument/2006/relationships/slide" Target="/ppt/slides/slide13.xml" Id="R8de515592133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c7210ceec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089af22fc4a78" /><Relationship Type="http://schemas.openxmlformats.org/officeDocument/2006/relationships/notesMaster" Target="/ppt/notesMasters/notesMaster1.xml" Id="R4107ceb74429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8021f17d54efd" /><Relationship Type="http://schemas.openxmlformats.org/officeDocument/2006/relationships/notesMaster" Target="/ppt/notesMasters/notesMaster1.xml" Id="Reef504ba9aa34a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20e284fccb4fe1" /><Relationship Type="http://schemas.openxmlformats.org/officeDocument/2006/relationships/notesMaster" Target="/ppt/notesMasters/notesMaster1.xml" Id="Rfdbea833d3fb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474bc17fea4e2d" /><Relationship Type="http://schemas.openxmlformats.org/officeDocument/2006/relationships/notesMaster" Target="/ppt/notesMasters/notesMaster1.xml" Id="R68bc48a1229643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9dc4d6d72a4f67" /><Relationship Type="http://schemas.openxmlformats.org/officeDocument/2006/relationships/notesMaster" Target="/ppt/notesMasters/notesMaster1.xml" Id="R20aaadf81ad94e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a549deb094360" /><Relationship Type="http://schemas.openxmlformats.org/officeDocument/2006/relationships/notesMaster" Target="/ppt/notesMasters/notesMaster1.xml" Id="Rd93313bccb3d45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4ebe0432de4cc9" /><Relationship Type="http://schemas.openxmlformats.org/officeDocument/2006/relationships/notesMaster" Target="/ppt/notesMasters/notesMaster1.xml" Id="R1e30c5409f4544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452a83f95641d7" /><Relationship Type="http://schemas.openxmlformats.org/officeDocument/2006/relationships/notesMaster" Target="/ppt/notesMasters/notesMaster1.xml" Id="R174a7aefce7648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526a9429ab42dc" /><Relationship Type="http://schemas.openxmlformats.org/officeDocument/2006/relationships/notesMaster" Target="/ppt/notesMasters/notesMaster1.xml" Id="R6e3c3ab617f648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2a7619581645e9" /><Relationship Type="http://schemas.openxmlformats.org/officeDocument/2006/relationships/notesMaster" Target="/ppt/notesMasters/notesMaster1.xml" Id="R030c2b7d5d3943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fe0e86396f464f" /><Relationship Type="http://schemas.openxmlformats.org/officeDocument/2006/relationships/notesMaster" Target="/ppt/notesMasters/notesMaster1.xml" Id="Rd85077addb36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93053983e4885" /><Relationship Type="http://schemas.openxmlformats.org/officeDocument/2006/relationships/notesMaster" Target="/ppt/notesMasters/notesMaster1.xml" Id="R90d305b8b4df48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320e58c8ea4c7a" /><Relationship Type="http://schemas.openxmlformats.org/officeDocument/2006/relationships/notesMaster" Target="/ppt/notesMasters/notesMaster1.xml" Id="R85c9f2179d2e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同学好。今天先不从模型名称和专业术语讲起。我想先回答一个最简单的问题：AlphaEarth把一个地点一年的卫星信息压缩成64个数字以后，这64个数字到底有没有真实含义？如果有，它们应该能够帮助我们判断这个地方的温度、植被、地形和城市环境。接下来我会先用一个具体例子把这件事讲清楚，再介绍原论文和我的区域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/Users/chabing/Desktop/project/alphaearth-reproduction-main/README.md</a:t>
            </a:r>
          </a:p>
          <a:p xmlns:a="http://schemas.openxmlformats.org/drawingml/2006/main">
            <a:r>
              <a:t>- https://arxiv.org/pdf/2602.10354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项目说成人话。卫星一年会看到大量地表信息，例如植被、温度、水分、地形、道路和建筑。AlphaEarth会把这些复杂信息压缩成64个数字，可以把它理解成一个地点的数字指纹。论文和我的项目要检查的是：如果只把这64个数字交给一个模型，它能不能判断这个地方的平均气温、植被状况、高程和城市环境。如果能，而且换到其他地区也能，才说明这份数字摘要包含真实环境信息。后面为了表述方便，我会把这64个数字称为64维向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https://arxiv.org/html/2602.10354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具体例子。先选广东省某个地点和2020年，AlphaEarth为它输出64个数字。预测模型只能看到这64个数字，看不到气象数据，然后尝试猜这个地点的平均气温。接着把预测结果与ERA5-Land等环境数据提供的参考值进行比较。这里的24度只是为了演示流程。可以把它理解成考试：64个数字是线索，已有环境数据是标准答案；模型猜得越准，说明这份数字摘要包含的真实环境信息越多。同样的过程会对26项环境信息和大量地点重复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解了刚才的例子以后，再看原论文就很简单。论文做了三轮检查。第一轮检查信息量：用64个数字预测温度、植被、高程等26项已有环境数据。第二轮检查可靠性：把整片地区留出来测试，并比较2017到2023年，确认不是只在训练地点和某一年有效。第三轮才进入应用：把约1210万条数字摘要放入检索数据库，查找相似地点，再让大语言模型回答环境问题。我的复现主要重复前两轮，并把研究区从大湾区扩大到广东省，检索和问答系统还没有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的结果可以继续用考试来理解。左图按100分制显示，只看64个数字，露点和平均气温的预测分数达到97分，地表温度和高程约96分，植被指数和树木覆盖约93到94分。右上图显示，26项环境信息中，随机森林有12项、Transformer有14项超过90分。换到没有参与训练的新地区以后，代表性分数只下降大约0.9到1.7分；换到不同年份，关系相似度达到0.963，接近1，说明非常稳定。论文在这些验证以后，才进一步建立问答系统，并在360轮评价中得到平均3.74分。专业写法中，这个预测分数叫R平方；这里先把它理解成越高越好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工作就是把论文前两轮检查搬到中国区域。先在粤港澳大湾区做实验，再扩展到广东省21个地级市。广东省每年有25125个独立位置，2017到2023年共175875条记录。每条记录代表某个地点在某一年，包含AlphaEarth给出的64个数字，以及气温、植被、高程等26项参考环境数据。随后用相同方法检查：这些数字能不能预测参考数据，换到没有参与训练的地区后是否仍然有效。规则网格间距为0.025度，在广东大约是2.7公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/Users/chabing/Desktop/project/alphaearth-reproduction-main/results/guangdong_real/guangdong_sampling_coverage.png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最容易混淆的问题。官方AlphaEarth影像的原生空间分辨率是10米，但我们并没有把每个10米像元作为一条训练样本。严格版按照论文方法，对每个采样点建立500米半径缓冲区，并以1公里计算尺度提取64维向量。因此单条嵌入观测的空间支持范围约为1公里。采样点中心之间又相隔约2.7公里。最后，监督标签来自不同环境产品，原生像元从30米到11.1公里不等。这四个尺度不能统一叫做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/Users/chabing/Desktop/project/alphaearth-reproduction-main/src/fetch_gba_embeddings_gee.py</a:t>
            </a:r>
          </a:p>
          <a:p xmlns:a="http://schemas.openxmlformats.org/drawingml/2006/main">
            <a:r>
              <a:t>- /Users/chabing/Desktop/project/alphaearth-reproduction-main/data/processed/gba_aef_gee_1km_2017_2023.provenance.json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督标签的原生分辨率差异很大。地形数据大约30米，土壤250米，叶面积指数和反照率500米，NDVI、EVI和地表温度约1公里。最粗的是ERA5-Land气候和水文数据，像元边长约11.1公里。当前代码为了统一提取，先进行双线性重采样再取点，但这只是把粗网格插值到更细的输出网格，不会产生新的10米气候信息。因此在解释结果时，应以原始数据源的分辨率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https://developers.google.com/earth-engine/datasets/catalog/USGS_SRTMGL1_003</a:t>
            </a:r>
          </a:p>
          <a:p xmlns:a="http://schemas.openxmlformats.org/drawingml/2006/main">
            <a:r>
              <a:t>- https://developers.google.com/earth-engine/datasets/catalog/MODIS_061_MOD13A2</a:t>
            </a:r>
          </a:p>
          <a:p xmlns:a="http://schemas.openxmlformats.org/drawingml/2006/main">
            <a:r>
              <a:t>- https://developers.google.com/earth-engine/datasets/catalog/MODIS_061_MOD15A2H</a:t>
            </a:r>
          </a:p>
          <a:p xmlns:a="http://schemas.openxmlformats.org/drawingml/2006/main">
            <a:r>
              <a:t>- https://developers.google.com/earth-engine/datasets/catalog/UMD_hansen_global_forest_change_2025_v1_13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原论文、大湾区和广东省放在同一个口径下比较。已经严格对齐的是时间范围、0.025度网格、64维输入、1公里提取尺度和500米缓冲区。主要差异有三类。第一是数据规模：论文约1210万条，我们分别只有5.46万和17.59万条。第二是标签来源：论文的气温和降水使用约4公里的PRISM，我们使用约11.1公里的ERA5-Land；水文数据则都来自ERA5-Land。第三是模型容量：论文的随机森林最多使用70万条样本，Transformer使用500万条、4层8头和60轮训练；区域实验最多使用3万条，Transformer是2层4头和12轮。因此目前是方法复现和区域泛化实验，不是等条件的数值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也可以用普通语言理解。第一，先检查64个数字中的单个数字，是否会随着温度、植被等参考答案一起变化，专业上叫Spearman相关。第二，把64个数字全部交给随机森林，看能不能预测26项环境信息。第三，再用Transformer复核，避免结论只依赖一种算法。第四，改变考试方式：普通随机抽样相当于从同一题库抽题，整片地区留出则相当于换一套新题，更能检验实际可靠性。预测分数R平方越接近1越好；普通测试减去换地区测试的下降值越小越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直接比较论文、大湾区和广东省。左图是普通随机测试，按100分制显示。论文六项代表信息大约在93到97分；区域实验中只有高程超过90分，其他项目仍有明显差距。右上图显示，论文随机森林有12项、Transformer有14项超过90分，而大湾区和广东省分别只有1项和0项。右下图是换到没有参与训练的新地区后，分数下降多少。论文只下降0.9和1.7分；大湾区下降29.1和21.3分；广东省下降缩小到6.7和8.7分。因此最准确的阶段结论是：64个数字里确实有环境信息，预测分数还没有达到论文，但扩大地区覆盖以后，换地区测试明显更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换地区测试会掉分？一个可能原因是参考气候数据太粗。ERA5-Land一个小格约11.1公里，而采样点间距约2.7公里，所以同一个气候小格内可能有16到18个采样点。这些点的64个数字不同，但气温、降水等标准答案非常相似。普通随机测试时，同一个粗网格内的点可能同时进入训练和测试，模型相当于见过很相似的题，因此分数可能偏高。整片地区留出以后，模型面对真正的新区域，分数就更容易下降。但这仍是待验证原因之一，不能在补充实验前当作唯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我建议先验证数据尺度问题，再继续增加模型复杂度。第一，按ERA5原生像元编号做分组交叉验证，确保同一粗像元不会同时进入训练和测试。第二，把同一气候像元内的AlphaEarth向量聚合后重新训练，观察伪重复被消除后结果如何变化。第三，按照变量原生分辨率分组，检验分辨率越粗是否对应更大的空间损失。第四，系统改变嵌入提取窗口和空间分块大小，形成多尺度敏感性分析。希望老师指导的是，后续主评价应以常规空间分块为主，还是把按原生气候像元分组作为更严格的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  <a:p xmlns:a="http://schemas.openxmlformats.org/drawingml/2006/main">
            <a:r>
              <a:t>- /Users/chabing/Desktop/project/alphaearth-reproduction-main/src/run_gba_spatial_sensitivity.py</a:t>
            </a:r>
          </a:p>
          <a:p xmlns:a="http://schemas.openxmlformats.org/drawingml/2006/main">
            <a:r>
              <a:t>- /Users/chabing/Desktop/project/alphaearth-reproduction-main/results/gba_real/quality_audit_results.json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cddcba369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032d0bb6f4ceb" /><Relationship Type="http://schemas.openxmlformats.org/officeDocument/2006/relationships/slideLayout" Target="/ppt/slideLayouts/slideLayout1.xml" Id="Rb1a69151372b49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a69151372b49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f269f98cc4604" /><Relationship Type="http://schemas.openxmlformats.org/officeDocument/2006/relationships/notesSlide" Target="/ppt/notesSlides/notesSlide1.xml" Id="R050e598c687e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eb4e6f68941ba" /><Relationship Type="http://schemas.openxmlformats.org/officeDocument/2006/relationships/notesSlide" Target="/ppt/notesSlides/notesSlide2.xml" Id="R3dcfee9cc03f40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c5ed0968f45e6" /><Relationship Type="http://schemas.openxmlformats.org/officeDocument/2006/relationships/notesSlide" Target="/ppt/notesSlides/notesSlide3.xml" Id="R2a57ee0273b5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3c8a5a0ea4ff7" /><Relationship Type="http://schemas.openxmlformats.org/officeDocument/2006/relationships/notesSlide" Target="/ppt/notesSlides/notesSlide4.xml" Id="R8dcddd209b84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58c183ba14ec2" /><Relationship Type="http://schemas.openxmlformats.org/officeDocument/2006/relationships/chart" Target="/ppt/slides/charts/chart1.xml" Id="R7b28118f12fb4ad6" /><Relationship Type="http://schemas.openxmlformats.org/officeDocument/2006/relationships/chart" Target="/ppt/slides/charts/chart2.xml" Id="R7fb26c32bac84c14" /><Relationship Type="http://schemas.openxmlformats.org/officeDocument/2006/relationships/notesSlide" Target="/ppt/notesSlides/notesSlide5.xml" Id="Ra19b613b2bf5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5d89f3abc4c6b" /><Relationship Type="http://schemas.openxmlformats.org/officeDocument/2006/relationships/image" Target="/ppt/media/image.png" Id="R31740fdc26654c13" /><Relationship Type="http://schemas.openxmlformats.org/officeDocument/2006/relationships/notesSlide" Target="/ppt/notesSlides/notesSlide6.xml" Id="R63956c9946fe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0e73303e04517" /><Relationship Type="http://schemas.openxmlformats.org/officeDocument/2006/relationships/notesSlide" Target="/ppt/notesSlides/notesSlide7.xml" Id="R910e253ac4a0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c1ca89ae943ce" /><Relationship Type="http://schemas.openxmlformats.org/officeDocument/2006/relationships/notesSlide" Target="/ppt/notesSlides/notesSlide8.xml" Id="Rcd16e7a15c8f4b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cdced969f403a" /><Relationship Type="http://schemas.openxmlformats.org/officeDocument/2006/relationships/notesSlide" Target="/ppt/notesSlides/notesSlide9.xml" Id="R48804e74df1143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19f93c8f449c3" /><Relationship Type="http://schemas.openxmlformats.org/officeDocument/2006/relationships/notesSlide" Target="/ppt/notesSlides/notesSlide10.xml" Id="R892c7d44ed5649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696922784209" /><Relationship Type="http://schemas.openxmlformats.org/officeDocument/2006/relationships/chart" Target="/ppt/slides/charts/chart3.xml" Id="R44923c129ac04b6c" /><Relationship Type="http://schemas.openxmlformats.org/officeDocument/2006/relationships/chart" Target="/ppt/slides/charts/chart4.xml" Id="Rb38c1b6329ff434d" /><Relationship Type="http://schemas.openxmlformats.org/officeDocument/2006/relationships/chart" Target="/ppt/slides/charts/chart5.xml" Id="Rff59df97515b4535" /><Relationship Type="http://schemas.openxmlformats.org/officeDocument/2006/relationships/notesSlide" Target="/ppt/notesSlides/notesSlide11.xml" Id="Re14df038d42b49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798949434419a" /><Relationship Type="http://schemas.openxmlformats.org/officeDocument/2006/relationships/notesSlide" Target="/ppt/notesSlides/notesSlide12.xml" Id="Ra0814bc7cb2849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2777f7e9c4e07" /><Relationship Type="http://schemas.openxmlformats.org/officeDocument/2006/relationships/notesSlide" Target="/ppt/notesSlides/notesSlide13.xml" Id="Re6a39c1c19994c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8"/>
              <c:pt idx="0">
                <c:v>露点</c:v>
              </c:pt>
              <c:pt idx="1">
                <c:v>气温</c:v>
              </c:pt>
              <c:pt idx="2">
                <c:v>白天地温</c:v>
              </c:pt>
              <c:pt idx="3">
                <c:v>高程</c:v>
              </c:pt>
              <c:pt idx="4">
                <c:v>夜间地温</c:v>
              </c:pt>
              <c:pt idx="5">
                <c:v>NDVI</c:v>
              </c:pt>
              <c:pt idx="6">
                <c:v>EVI</c:v>
              </c:pt>
              <c:pt idx="7">
                <c:v>树木覆盖</c:v>
              </c:pt>
            </c:strLit>
          </c:cat>
          <c:val>
            <c:numLit>
              <c:formatCode>0</c:formatCode>
              <c:ptCount val="8"/>
              <c:pt idx="0">
                <c:v>97</c:v>
              </c:pt>
              <c:pt idx="1">
                <c:v>97</c:v>
              </c:pt>
              <c:pt idx="2">
                <c:v>96</c:v>
              </c:pt>
              <c:pt idx="3">
                <c:v>96</c:v>
              </c:pt>
              <c:pt idx="4">
                <c:v>96</c:v>
              </c:pt>
              <c:pt idx="5">
                <c:v>94</c:v>
              </c:pt>
              <c:pt idx="6">
                <c:v>94</c:v>
              </c:pt>
              <c:pt idx="7">
                <c:v>93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变量数</c:v>
          </c:tx>
          <c:spPr>
            <a:solidFill xmlns:a="http://schemas.openxmlformats.org/drawingml/2006/main">
              <a:srgbClr val="218C84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12</c:v>
              </c:pt>
              <c:pt idx="1">
                <c:v>14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白天地温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96</c:v>
              </c:pt>
              <c:pt idx="1">
                <c:v>94</c:v>
              </c:pt>
              <c:pt idx="2">
                <c:v>94</c:v>
              </c:pt>
              <c:pt idx="3">
                <c:v>93</c:v>
              </c:pt>
              <c:pt idx="4">
                <c:v>96</c:v>
              </c:pt>
              <c:pt idx="5">
                <c:v>97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白天地温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90.5</c:v>
              </c:pt>
              <c:pt idx="1">
                <c:v>81.7</c:v>
              </c:pt>
              <c:pt idx="2">
                <c:v>82.6</c:v>
              </c:pt>
              <c:pt idx="3">
                <c:v>70.2</c:v>
              </c:pt>
              <c:pt idx="4">
                <c:v>78.8</c:v>
              </c:pt>
              <c:pt idx="5">
                <c:v>81.6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白天地温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91.2</c:v>
              </c:pt>
              <c:pt idx="1">
                <c:v>77.9</c:v>
              </c:pt>
              <c:pt idx="2">
                <c:v>72.6</c:v>
              </c:pt>
              <c:pt idx="3">
                <c:v>65.1</c:v>
              </c:pt>
              <c:pt idx="4">
                <c:v>80</c:v>
              </c:pt>
              <c:pt idx="5">
                <c:v>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12</c:v>
              </c:pt>
              <c:pt idx="1">
                <c:v>14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</c:v>
              </c:pt>
              <c:pt idx="1">
                <c:v>0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</c:v>
              </c:pt>
              <c:pt idx="1">
                <c:v>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0.9</c:v>
              </c:pt>
              <c:pt idx="1">
                <c:v>1.7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29.1</c:v>
              </c:pt>
              <c:pt idx="1">
                <c:v>21.3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6.7</c:v>
              </c:pt>
              <c:pt idx="1">
                <c:v>8.7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37B38-F2D1-4B1F-B153-FBB1AA6A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组会进展汇报 · 2026.08.24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8FCA2-EE7B-47E1-80A4-D040462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AlphaEarth表征向量的</a:t>
            </a:r>
          </a:p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区域解释与泛化验证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E76FB-6F2D-4C5B-ACB6-B03D959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AI生成的64个数字，能不能告诉我们一个地方真实是什么样？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F4099-BADA-4759-AF62-B9064FB7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39C2-E8C2-44B7-838A-E9B04F1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汇报人：Xuzihan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EF591-A7A5-4A17-A457-A8993C7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74E3A-2CDA-4E60-BAAF-82C93A3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3062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403DBA1-AF78-4FE2-96D2-5F14E0F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这个项目在检查：AI生成的“地球数字摘要”是否有用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B90D2-AE33-4EDD-938F-84DD47F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AE803-F6F0-4691-9DC9-2E71CB77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AlphaEarth会把一个地点一年的卫星信息，压缩成64个数字。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1168D-CB8C-4588-8925-5757856A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861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CF5D-9356-4814-8C62-A02D898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861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72309-9225-462D-AFF8-1CBEAF3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卫星看到的地表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60327-CF81-4255-AE77-101D096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EA767-3CFF-4D76-A608-935DF38C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324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79F"/>
          </a:solidFill>
          <a:ln xmlns:a="http://schemas.openxmlformats.org/drawingml/2006/main" w="0">
            <a:solidFill>
              <a:srgbClr val="B8D7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46F42-0BE2-4FDB-9B07-5CBF878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324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9E7"/>
          </a:solidFill>
          <a:ln xmlns:a="http://schemas.openxmlformats.org/drawingml/2006/main" w="0">
            <a:solidFill>
              <a:srgbClr val="9EC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7EE2-0C56-4C4A-8565-8AE4690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324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8DB"/>
          </a:solidFill>
          <a:ln xmlns:a="http://schemas.openxmlformats.org/drawingml/2006/main" w="0">
            <a:solidFill>
              <a:srgbClr val="D6D8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7804A-0981-4E45-9D54-31F73BC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B74A7-728B-43FA-8039-59810F2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温度与水分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AD95C-A9E4-439E-A1E8-6CC37F47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地形、道路和建筑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941C1-3275-4012-BC34-AE13A3BE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AlphaEarth进行压缩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702BD-5B3E-479A-BEFB-16D8BD7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F70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96D46-4D7E-4B7E-BA39-644332E2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2F70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A0C9E-B563-4658-B5AD-0EF92CFA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098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8894E-F039-4487-885F-3C615BF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0.12　−0.48　0.07　…　0.73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01459-0A38-4A8D-B298-EFBD661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00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一个地点的64项“数字指纹”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5ED04-D549-4A2B-BC64-90B674B6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论文和本项目要检查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A4765-FA0D-4429-905C-2E1584CC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4D6ED-CDFE-4F47-80D5-890BD0FF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只看这64个数字，能不能判断：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96492-4285-4DA8-8BBE-058A19D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平均气温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D1D58-AB67-4884-8039-56595F3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90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植被状况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64583-94BC-48D5-BE2B-0F30FCB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高程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8C067-C650-456B-B565-23E488D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城市环境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C36F1-974D-44F2-A0CF-E990EC2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791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22743-D899-4FDD-9C6E-D059D7F4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如果这64个数字真有意义，它们就应该能告诉我们：这个地方真实是什么样。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C36B5-0D00-4128-837A-4A67D9E5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后面把这64个数字简称为“64维向量”。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FE266-E38E-4A1A-BB9D-56B7A60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A6947-5CF6-4DD4-827C-96FFD033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5203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BED6ADC-6F1D-4D03-A679-7E55808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用一个例子理解：只看64个数字，能不能猜出平均气温？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6423C-A45A-4FC7-BEAC-96A8157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1E94E-BE5A-46D7-AC9B-3183E7DD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下面的24℃仅用于演示流程，不代表某条真实样本。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26E82-A0F9-45F3-8CED-D349E418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908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5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DA1D1-AC12-49F7-8209-0E87CB4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5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12A30-9BC5-44D1-8A42-3F709E3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908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5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EE0A9-2BD8-4A04-9C2C-E8A8152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C02F6-302C-4D56-8645-072C2B64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EAD15-06AD-4C38-9C45-9C03D262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选一个地点和年份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72164-BDBF-4F67-BF60-56FE3B3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例如：广东某地点</a:t>
            </a:r>
          </a:p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2020年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59380-4EB0-4A99-8FC7-419C7D3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F70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2B6D-2B71-483D-9920-25787B46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43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BE7A9-11CD-49C6-AEB9-92C8C60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取得64个数字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6C1F7-FDC6-4DC6-8D1C-6C21FFD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0.12　−0.48</a:t>
            </a:r>
          </a:p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0.07　…　0.73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14E9F-375A-4800-A6C8-35426B4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65749-615B-41DB-9B82-967A726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F1E60-4DB1-4289-BA1C-DE7A6DA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模型只看这些数字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7F8C3-30B9-42F8-B87D-EEDD777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模型猜测：</a:t>
            </a:r>
          </a:p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平均气温约24℃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ABBDB-6DF9-4DDF-A718-15BDB4B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050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9525">
            <a:solidFill>
              <a:srgbClr val="B84B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25599-42D6-4EE2-AF3B-7975E03F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43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4C243-1898-4BD2-934B-7591C11C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14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与参考数据核对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4BD8E-230A-42E1-914E-EB816EC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19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环境数据约24℃</a:t>
            </a:r>
          </a:p>
          <a:p xmlns:a="http://schemas.openxmlformats.org/drawingml/2006/main">
            <a:pPr algn="ctr">
              <a:def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两者越接近越好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EDBD8-1FAE-4B10-8690-13EBDFE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8680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D329A-3690-421F-B7DB-052F576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可以把它理解成一次考试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F56A0-8FBF-47CE-B541-04A4C9B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530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64个数字是线索，已有环境数据是标准答案；猜得越准，说明数字摘要里的真实信息越多。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E0BA8-8567-4E69-A571-085DEBE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330F4-FD92-4B11-B217-C76AF4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6652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7D25E61-820F-4499-BFBC-FCC023F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原论文给这份“地球数字摘要”做了三轮检查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9D0BE-8583-4E6E-A017-AFFE0F4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578B-0600-4A93-855F-06370E4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研究范围：2017—2023年美国本土，约1210万条地点—年份记录。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5B4A-0CCD-4C5A-A49F-945ABBF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194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4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05F2B-620E-4106-80A5-60A2752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194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4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683DA-A879-44A1-B143-187B965C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238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F70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BBCAB-729F-418C-A9C3-D45B95D2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第一轮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3C3B0-95C8-4828-A993-6CA6A53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2412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这些数字能说出</a:t>
            </a:r>
          </a:p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一个地方是什么样吗？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501FD-487D-4CCC-B0C5-18566A7A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718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用64个数字预测温度、植被、高程等26项已知环境信息。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0B795-BCBB-4703-B93D-7A557576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信息量检查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34EBE-F8FA-4C3D-87C8-05B60B1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3238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723EF-DC04-4C8D-909F-88C538D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00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第二轮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C172-CC6B-4EE4-B2BB-A4443D2A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换到没见过的地区或年份</a:t>
            </a:r>
          </a:p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还能说准吗？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1C1AB-AB8C-42CE-AC07-54A9172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整片地区留作测试，并比较2017—2023年的稳定性。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739E4-948E-4806-A467-BBC4D51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空间与时间检查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E6CE6-13B1-4D64-86A0-E6F7CEF6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62125"/>
            <a:ext cx="3238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0F4FB-D623-4B7A-BC93-E7E61B45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00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第三轮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7B826-A15C-4BF5-919D-FDE8EE47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2412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证明有用以后，</a:t>
            </a:r>
          </a:p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能不能拿来查询和问答？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AB1D1-8782-4F04-AB03-26997D1D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718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建立相似地点检索库，让大语言模型回答地表环境问题。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7D30B-2667-422C-BE88-9F8C0CA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00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FAISS检索＋RAG问答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0077B-15AD-4D83-B363-CDF6B9A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5B772-3BA3-4FD0-8D30-A850C9B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我的复现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9FC98-E9C4-4133-87A2-C33767E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721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先重复前两轮检查，并把研究区从大湾区扩大到广东省；检索和问答系统暂未复现。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81FBD-B1CE-433B-8483-AD3255C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FE935-29AE-465B-90E0-BFE4A40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3953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D1AD3E6-485E-49B4-89A4-C4E936C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原论文结果：64个数字能较准确还原多种地表信息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1BF46-ACB3-4571-8199-E80F9A2F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9E90E-CC99-43C9-B4D1-A9E6B9C4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图中按100分制显示：越接近100，模型仅凭64个数字猜得越准。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3C848-77DC-4943-9249-13167286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8种代表性环境信息的预测分数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8118f12fb4ad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18628-54E2-4670-9016-AEC1E1C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26项中，达到90分以上的数量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620000" y="1809750"/>
          <a:ext xmlns:a="http://schemas.openxmlformats.org/drawingml/2006/main" cx="3857625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b26c32bac84c1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D9DF2-9252-4C8D-BBDD-765022B9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6245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34BD-D953-4BC7-B4BA-28E3BD4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958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换到新地区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A8EE1-B747-4493-A067-FC5CD84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分数仅下降</a:t>
            </a:r>
          </a:p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0.9—1.7分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2C61D-D88C-4B0A-BCEF-1BB8A67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6245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BEAE1-740D-4164-8179-E16DE71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958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换到不同年份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1F07D-71E7-42A9-9574-C6BA9D3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10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相似度很高</a:t>
            </a:r>
          </a:p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r＝0.963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03660-0605-43BC-A3DE-B81A46FF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762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FCE41-539A-46A5-91C5-70A2BF19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8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问答系统：360轮评价，平均3.74/5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B9B65-CA09-4618-998F-AD1ABBF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32841-19E0-433A-813F-6295A452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85750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791314F-4B2B-4AA4-BF2E-960601B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我现在做什么：把论文的检查搬到大湾区和广东省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3A701-087C-4D49-B342-EDFC3710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3A841-8249-4B2B-88F7-8919323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广东省数据概况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DD783-0D34-4FB7-8F5F-7E2CB059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0D008-F0B8-4B13-8D5C-CF67FCBF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每年独立采样位置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DB279-58EF-495D-A29A-4ACF8112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175,875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8BEE9-5468-470E-BB2C-69C91B75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2017—2023年总观测数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54EEA-517B-44B7-997B-9F8E81FD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57BE3-2FBD-4290-8B10-755BB70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766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每个位置按年度配对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D47F4-454B-4734-9B93-C8294672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9DB3F-B566-41E6-8A0A-D0F81DCF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项环境变量，覆盖地形、土壤、植被、</a:t>
            </a:r>
          </a:p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气候、水文和城市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3C269-B25B-431E-BBBE-4F454A0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7A354-0188-45DE-BCC6-41E28BC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一行数据＝某位置某年的64维嵌入＋26个环境变量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C33E9-99BE-4493-982A-B8ADF5A3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52550"/>
            <a:ext cx="5476875" cy="46672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40fdc26654c13"/>
          <a:stretch xmlns:a="http://schemas.openxmlformats.org/drawingml/2006/main"/>
        </p:blipFill>
        <p:spPr>
          <a:xfrm xmlns:a="http://schemas.openxmlformats.org/drawingml/2006/main">
            <a:off x="5762625" y="1662774"/>
            <a:ext cx="5476875" cy="4046802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C2CD4-7073-4DF0-9546-122432B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6E10D-3909-42B5-AD48-89E4EDB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722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20AA8B1-016E-46D0-B9D3-526F401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“10米”是原始影像像元，不是每条训练记录的大小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81FFD-E410-449B-882D-AB3FEA4D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0F69A-5368-4476-878E-2A1C832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必须区分四个概念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5E1E6-19EC-47FA-91A2-A64F06AD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B1FCD-FE0C-4819-A969-4E85C77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297F-B585-4B68-B38D-F178BC8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CE833-E2EE-4CFE-B505-F2FA203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原始影像像元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9A733-5A43-4C15-900E-DC9F063C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AlphaEarth官方影像中，每个小格为10米×10米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D5499-15A7-4D7A-B206-8060BD7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637AA-11AB-4611-9E79-D316CA4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E2622-F465-4B19-9909-BE4FE4A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约1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7CE23-BC03-45C4-A13F-B9CD0CBD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64个数字的汇总范围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75F7F-18EE-40F1-A3DE-E3A740DE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以采样点周围500 m为半径，对64项数字取平均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C7969-FAFB-415B-9FEC-21FFABB9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47C8E-ABBF-4616-9A37-07B060F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BF9EE-812B-4389-A352-4D8CD21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约2.7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7F188-9E66-4CC7-8F40-392380A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采样点间距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9E357-FD76-4450-A9E9-9499E33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0.025°规则网格决定样本中心之间的距离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079CC-1D89-4EDD-A555-95BF9FC7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0">
            <a:solidFill>
              <a:srgbClr val="FA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1BFD9-E016-46B9-8D49-B41ABA6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BB5F0-B52F-4537-93AF-536E8BF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30 m—11.1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18FAF-CACF-4E48-900A-CB868E5B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参考答案的像元大小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B2819-902C-4CA7-AD58-A390EA7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气温、植被、地形等数据的精细程度并不相同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84947-0781-48B5-BA9C-F99378E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E96A5-6F8D-4EE4-8E7A-CD94CAE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77B69-0A99-499F-A881-58E7C97E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9C172-1AD7-433A-B124-E19FA986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925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B81A0-3E02-46C9-B988-E017C123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规范表述：GEE是处理平台；10米仅指AlphaEarth原生像元；当前单条嵌入的空间支持约1公里。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38C08-560D-4248-9F56-C6A9C1F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F8F28-E798-43DE-A2C0-434F94E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705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9FB6D9D-1E8E-4429-B45C-43DAA37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作为“标准答案”的26项环境数据，精细程度差别很大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9A332-CF8E-4469-8F27-E878FC2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5F303-0C46-411E-A6D6-D12D97FD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像元边长越大，看到的细节越少；把粗数据插值到10米，不会产生新的局地信息。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3C2DA-512F-40F1-9386-70E6373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561BE-8CB7-454F-BE1C-44217664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46D43-0CC8-4641-80B8-ADF4659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BB7AE-EB15-4590-B2C5-CACCA9A6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9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代表变量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4F688-8EFE-46B1-8FD7-0227312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42C32-C720-4C6F-8FDC-98FFA224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实际数据源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C07E4-275C-4CEC-8B36-32BFBB6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91203-BBD4-4686-8DE5-5BA78FE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695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原生像元大小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3CC70-1A95-48A4-9C92-868CDF10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F34AA-E4E8-4824-B002-8CD51E77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地形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41EC4-E4C6-445D-9110-2D67C431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5740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F7A0D-73AA-4B84-92D2-0EFDF79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高程、坡度、坡向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C71B2-FECB-4EF4-A5BC-37FFF458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5740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C54FC-BF2E-47C9-8368-CD567D89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SRTM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1E55E-8345-4C59-A4B5-6AB39A37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5740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2AB88-657C-4589-A385-1723AFF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3360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B809C-EF8D-4073-9983-FEAFDFD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E1A85-919A-45D0-BD8D-D65A418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土壤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BEBAC-4654-4916-9DCC-EE43BDF1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62225"/>
            <a:ext cx="3667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BFA9C-4F14-4EA5-BEED-FE0AAA14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384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黏土、有机碳、pH、持水量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35104-7A81-4096-BA51-B6C3A608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22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D798A-43E4-4FBA-BE25-AA80677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OpenLandMap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77AFE-4494-49F9-84EE-4C07F702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62225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65D36-985B-4A65-8875-23F06D28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384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250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D5A73-4095-4527-B869-F9F50537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CA665-B0EC-41AB-822A-B68B6433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0CADD-8792-44E5-BF1C-549510B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33725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6D73F-099B-4286-BBCF-7BB47716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树木覆盖率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AB20A-C000-4592-9E1E-C54B5CE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F6B04-4A9A-4A6B-B954-ED47580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99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Hansen全球森林变化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6B4EBF-EBC3-4426-BBDD-C2050BA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61F92-78F1-4FAB-845F-823EE66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0992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约31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605CF-F93E-44AF-921E-9EDD0E5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5AF03-B674-4FD6-8052-4FCD61F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17ABC-5192-4A91-8FC3-C603F30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BE5C1B-FE91-450C-B894-589E6511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叶面积指数、反照率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095928-656E-488E-AA24-17634BF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3855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C87D22-42C0-4A95-9BC2-09F56545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19B1DF-8767-4407-9FF1-BF46FBD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05487-8C79-40F9-B00B-26B8F40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147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500 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0ACC20-1E2D-4D7B-8036-49B8FDF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C8C3B-1258-4F5A-86A0-0FF473AA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23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植被与地表温度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274465-306E-484C-BAB5-ACE65F35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3667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E059AC-6153-4748-A1A7-00F0454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9575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NDVI、EVI、日间/夜间地表温度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0C4F98-8421-4737-AB5C-1A0E29D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43375"/>
            <a:ext cx="2857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A62C6A-89E3-46A2-950F-E2750EAD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19575"/>
            <a:ext cx="266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3C6124-ADE9-4476-9C0F-BB541F4B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43375"/>
            <a:ext cx="2971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33EC5-329E-4024-A770-FCD84493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19575"/>
            <a:ext cx="2781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 km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346449-0084-4BBB-9929-4D719990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D002D5-5188-4D2A-968A-10103FB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气候与水文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2DA0E8-93FF-43BC-879E-5B64165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3667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20B71B-EF1C-498D-B9AF-9758CA9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气温、露点、降水、土壤水分、径流、蒸散发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352F79-FA58-475D-B327-EA6BA862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434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F86C10-C1CD-4B76-9AA3-B5124588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19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ERA5-Land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43D2DA-4098-47CF-A0C0-7728299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4345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9D307B-B09D-424C-87D9-3B4BC0B0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196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约11.1 km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BF94BA-7E17-4B7B-BE1E-3CF6435C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4459CD-3F3F-453B-AB87-A4C74B6F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城市环境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3C72C9-D649-4755-8AE3-AF1ACD2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3667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84C538-8271-4E24-AB32-7F022CF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86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不透水面、夜间灯光、人口密度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1BEC8A-03B3-4EB4-B1FE-4B0E0C9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10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DC3F39-105A-41FB-83A4-222A6735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86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WorldCover / VIIRS / GPW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51B427-672B-40D4-9A17-2B55317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102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55D347-A79C-4525-809B-FB0C606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86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m—1 km；</a:t>
            </a:r>
          </a:p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不透水面按500 m邻域统计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BDE742-0AE0-42DF-9C30-58FD3D0E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AE50FC-1E31-41BA-A5FF-7AE6F45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5201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CA13C1F-D0AE-4651-8310-2BAA92F0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我们沿用了论文流程，但数据量、参考数据和模型规模更小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66E9-7A82-486F-B3CF-1F1E937D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71645-6314-4276-B40D-7D06D7DE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155D4-766C-4293-AC25-9D2B41AF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D5511-A053-463C-A384-8D199F1D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525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DC01C-EE19-4CB7-BBB9-506C015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287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原论文（美国本土）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2430F-F2E3-4499-BCEF-E6E5783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352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1C58B-1E96-4C5C-8A41-36565331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C1696-D217-4689-B3EF-9FC5AF1A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525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ABF8D-0FA1-433D-AD3D-4538A568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28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97024-E790-4195-8E7E-39B2B04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D6B63-0DC6-458C-91ED-458970A0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研究范围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41086-5538-4CB2-B23E-F9783A69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C451C-BD21-41F5-9218-43F6B954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288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CONUS，美国本土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0313A-C9F7-4E5E-AFC9-917B5A3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D2A4F-A088-4BFB-AB94-DD3FF68A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11个城市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4C07B-2DC8-409A-BC94-A2BE659E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5260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8CA12-B801-4ABB-A03A-33C4EA5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8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21个地级市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9720-EA5F-460E-A14E-BC1152E9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EF10F-A2E8-40CE-AF98-163B7188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年度记录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10C6F-EFE8-48AE-ADCA-7C2E6E4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FD62D-6E2C-4DC4-BF47-7789BFF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约173万/年；约1210万总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9350E-32B1-43BD-BEBA-1AC684C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52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BB968-EE91-4BB7-97D6-1356F34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288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7,802/年；54,614总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E6ACD-FBC3-4111-A08B-FB6C709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5265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51418-B818-4779-8DC5-CB7A2F9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288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25,125/年；175,875总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7CAE3-A43D-4A44-9468-BB3FA923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0242B-3C7C-4057-A335-B2DD41D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时间与网格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E5022-68E6-42FA-A694-82CD8A1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95591-B293-407F-B37C-1A26843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2017—2023；0.025°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8BBFBA-668D-4257-9AE1-9B82FF8C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47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82AFE-A466-4CFB-93A2-83AC972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A86CD-B2F9-41D7-9889-4667B452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479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9DEA25-F8CC-4AE5-9E70-947EE94F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241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4C979-742F-41FE-A52D-D6C3772D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27534-698F-4499-B122-43F3F4DC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AlphaEarth提取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9A38D-E1AF-4F54-9C1B-89392D9F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480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F344F-31B9-4AC5-96BC-DD4A43E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64维；1 km；500 m缓冲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652C5-FA94-4E31-BCDF-12CAC62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48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89417D-1432-490A-87C2-84B3D32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D9B11A-8455-45F4-96C8-A2537D5F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480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686AC-F86C-4FAE-803D-18A77263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E3B23B-493F-426C-A6F4-7328B5A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72D326-D5DF-47D8-99BB-208CA30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气温与降水标签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21C9E0-063C-42EE-A869-5E8F9B8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3112F8-FD42-43D6-B06B-123B7C4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PRISM，约4 km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917D08-F827-40AA-A705-3210F79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052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A7BD92-995A-45E3-99A0-1317FA86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27DE98-50BE-4826-9C20-1D3D76E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0520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4D976A-9DF4-4FB7-AA90-4C47A3E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814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384FBC-88BC-4837-8B11-27F4AE95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826E82-5E3B-40DC-84D4-C1BAB10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水文标签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60B389-4C60-4117-A4E9-361952C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005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3277DF-1993-4D95-A0A5-D98CFE90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ERA5-Land，约11 km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E32CA7-F155-41B0-B196-3F81133D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00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9C61ED-0498-435B-AC48-AF7DC858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76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FEF834-5101-4686-977A-5147757F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DBD78E-11B1-42BB-9A4B-4703051A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767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D76B76-1C53-4A90-BF3E-FD8F745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2BD03E-44AD-47AF-9C77-23EA728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随机森林训练量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6DC473-30E8-472B-BE37-B84C5D5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193E17-D3CB-4DA9-BA69-B409CEA6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每个变量最多70万条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6BF238-BA95-43D0-8553-88A5BC85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577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D99504-9A64-4768-AF11-9FC6D96A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33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49F95A-FE04-4416-A245-60C7A7EE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577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0ACA2B-0F07-4796-BEBB-9FC93F7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339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02EEA7-0D93-410E-B7B7-5D6B818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A888C1-1257-4EDA-A8D2-3CAFDEC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Transformer规模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6716F4-B990-4FE9-9429-D4D76C60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40C5BC-BBB2-436D-AA3D-5E03904B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911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500万条；4层8头；60轮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E3C5E4-ADF8-487C-9EF6-981D167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149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18DAF2-4093-4704-920A-57BF3456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91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E2EFFE-DFDD-4D4D-836F-B485E2A5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14900"/>
            <a:ext cx="3067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6D2929-9CF3-47EA-9163-0D69E85E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911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82DBDC-1E62-4DD8-91F9-B25BD605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2753E2-AA47-4499-92F0-D5065C8F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空间交叉验证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5085B0-7440-48D9-80F1-732FF7BB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EE5FF8-6F25-453F-9E57-E34A808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054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2°×2°分块；5折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A3A517-339B-47E9-8D2C-3012CEA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429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B1C9A4-3CC0-473B-9BC1-C4F56AC4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50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C51AEB-9909-4179-A27B-A117FE2F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292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FAFAEA-2A0E-4DB4-9F76-F870667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05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59624D-519C-4423-9A35-1AC759E2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925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E79D52-FCA6-4670-8D8A-8C1C147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结论边界：这是区域方法复现，不是等样本、等标签、等模型条件下的数值复现。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63E6F5-E32B-4F5B-94A3-1F22443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178C10-C7AE-4A7F-94AB-2DEB349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56686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C925B2C-D153-4CAE-8185-31BE5C92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我们怎样判断这64个数字“有用”，而且不是碰巧猜对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CDF90-2B45-4CF5-A897-5757F5E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D5373-9322-4CD0-83F9-5B1D5E9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A6B0-0A54-4229-81F3-5B3CBEC1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939AC-8B5B-4F2E-AE02-26946010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AB034-A4E0-4415-99CA-ED1713EA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先找单个数字的线索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9A522-1DD1-430C-AC3E-37314C60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Spearman相关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88A9-5DDF-4C4E-80E6-98291825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检查64项数字中，是否有某一项会随温度或植被一起变化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88396-523F-48C8-8E4A-B09C2B8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503BB-42E9-473B-AA11-69E32799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D3FE9-4F84-4FED-A74E-E95F56D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9DF74-0B34-472A-9DCA-F1585FEB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再把64个数字一起用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59B2F-A654-450D-8626-B268153A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随机森林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15A4C-DDE0-4CCE-A050-FE34E1AF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让模型只看64个数字，预测每一项参考环境数据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24492-CD5A-4329-A12A-F7789530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D119F-78F5-424A-9493-17B2032B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D0473-DABA-4009-B577-BB5CAD4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A25C4-E064-4E7C-A4EF-0E484D86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换一种模型复核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D446A-09DA-46E0-8672-6BAA13F9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A75CB-D0BF-4214-8470-DA6B8B8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用另一种算法复核结论，同时检查多个数字的组合关系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B5A18-F0D8-4EF4-9704-DB8B0998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104B7-A16F-4E71-8460-B67B6DC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E968D-7C3D-414F-BA0A-C85068FC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67AAF-4B75-4EAD-BC4D-432D0F4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改变测试方式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AA61F-2732-4BDD-8F49-86179CA4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随机抽样与整片地区留出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1BA692-F03B-4A11-9E97-2818194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重点看模型到了没有参与训练的新地区还能不能预测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BBCD6-981F-4F1D-8550-CF9B4A9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91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628BE-1E73-4440-ADCF-7AB67131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预测分数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630350-FE71-4EC9-B959-0F95F65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越接近1，预测越准；图表中乘以100显示成“分数”。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2A849-4A3E-45E5-AD06-36D1B9C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换地区后的分数下降 ΔR²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FAA2C-EF1E-400A-8A29-A10F997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普通测试分数－换地区测试分数；越小越可靠。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F3DB1-72CA-4886-B13C-C1FE615D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C4DEE-84A7-4ECA-A989-D853096D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6581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63604CA-7DC9-48A6-BD39-91A65530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目前还没达到论文分数，但扩大到广东后“换地区测试”更稳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D56BD-EAA7-49FE-A22E-A44FCAB2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A70AC-FEA9-4D15-A6E9-A0E13F0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8"/>
          </a:solidFill>
          <a:ln xmlns:a="http://schemas.openxmlformats.org/drawingml/2006/main" w="0">
            <a:solidFill>
              <a:srgbClr val="8A90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60F3B-C377-4758-A27A-8008587E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原论文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3344-189C-4F6C-B1EE-11D55B88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A62D-9C90-4E1F-B0EE-E7687833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312E1-472F-48EE-9E5D-F8D8A3D7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0F7F7-12C5-46A3-88B8-D6D6D803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B7233-8CF3-4739-BCD3-6FB290EE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普通随机测试：6项代表性环境信息的预测分数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F4B0E-D8DD-4A5C-BFF3-88183AAA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85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90分＝R² 0.90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00050" y="1743075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923c129ac04b6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3A8B1-0E21-49F6-9F92-BE919B3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90分以上的环境信息数量（共26项）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7477125" y="1752600"/>
          <a:ext xmlns:a="http://schemas.openxmlformats.org/drawingml/2006/main" cx="4095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c1b6329ff434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8FC96-CE00-4847-A649-6A5DECE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换地区后下降多少分（百分点，越低越好）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477125" y="4067175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59df97515b453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F27A9-C060-48A1-BB8E-FF661F3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245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RF：0.9 / 29.1 / 6.7　　Transformer：1.7 / 21.3 / 8.7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E86B6-1DB8-42A6-B36C-B5A737D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925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C3FE6-8C49-4E09-8077-9E613484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阶段判断：64个数字里确实有环境信息；预测分数仍低于论文；扩大地区覆盖后，换地区测试更稳定。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E9098-5695-4C20-A50A-4E612D8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5E2E1-E8CF-4944-81DB-A7464252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8328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CAA0FF3-49FA-4A60-9317-45B0AB99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粗气候数据可能让普通测试看起来更好，却在换地区时掉分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6158D-9E8A-4A17-8E0A-CA1F2C4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599C9-0E4B-4ED3-8BD1-EDD490B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一个ERA5-Land像元：约11.1 km × 11.1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59A77-6ADA-4B19-A35B-85BEA9C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19050">
            <a:solidFill>
              <a:srgbClr val="B84B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F118E-4B69-4829-977B-CF2591D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12462-BE0F-4818-BA49-C434C7C0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E08FC-2B08-4820-9617-AB41DF2B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F737F-DD8D-4E44-AC14-D255FC6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84723-F3F7-4B15-801D-2C6EDFB0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FDE04-9CF8-47A8-AC90-98FE72A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DA33F-6606-479A-9CB8-B9875B49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0E4F8-CBF6-423F-A2DE-E083325C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CFAC1-FCC5-45C4-928D-11F42C8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033E3-5535-41C0-B899-0632F075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5E1C8-725E-40E0-ADC7-A4A161E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48AF4-D615-4CAF-A6B9-CD23822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59DE2-DF9C-4D6A-A008-F3BF0E76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54B1A-ADBE-4543-AD87-20C92682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99DE1-D4C4-4A46-969C-CBF071C7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3F13F-F79B-4DDC-BBA1-7515CE98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AF6D6-4671-476F-9B5D-A79E416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约16—18个采样点可能来自同一粗气候像元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534E1-E13F-4DD2-8CB3-8AE1F20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每个点有不同的AlphaEarth向量，但气温、降水等标签高度相似。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2746B-080B-46D7-A258-96C338F8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67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65658-8E60-4B74-B5F4-E06D74B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2DCAD-62A4-4C88-A63E-0BA69BB3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普通随机测试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B1EA9-9D90-4692-AE67-43BE304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同一粗像元内的点可能同时出现在训练集和测试集，模型容易利用共同的空间梯度，测试分数可能偏乐观。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01CB8-0A92-41C6-B6BA-E3A95D37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3A810-C8AE-436C-BDFD-9AAFDBC7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整片地区留出测试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CAE30-A8C2-4C14-A459-4BC09AD3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整片区域被留出后，共享标签和邻近信息减少，模型必须迁移到新的环境梯度，因此分数更容易下降。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8EF32-9284-4047-975B-35067AE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72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1F9B2-EA99-4D62-9133-5D92B30B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这是待验证假设，不能在补充实验前直接作为唯一原因。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07581-D371-4870-AF04-B623FB6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84374-1EB9-4144-9BEC-94D91D5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37556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E872C15-08BA-48E1-896D-2F100A8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下一步先确认“考试方式”是否公平，再继续增加模型复杂度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5F792-A217-49C0-8F4E-290D909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B4CF3-6AD9-4C2E-B129-6E7DE5DC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79F2A-FF73-4D21-9894-E160DC0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2399D-0CE4-4E7C-B198-CEAED32A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95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按ERA5原生像元分组验证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7093D-8503-4DAC-A968-CA9463D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同一个11.1公里像元不能同时进入训练集和测试集，消除伪重复。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64176-B880-4517-943F-B5F9555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E2AB9-66ED-487E-9549-9072A19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BE3A1-D0B3-4187-A753-F22BBB8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把64个数字汇总到气候格网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9C9E-9680-42B5-B9D5-07E7A7E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比较“一个采样点一条记录”和“一个气候像元一条记录”的结果。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F2E37-AFD4-4C4F-9C1C-3CA4FEE7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98311-CE08-4DA1-A7FF-37A4DB5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8AEE-BC36-4498-A057-150D6A45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按原生分辨率分组比较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012E3-A3C8-4A6C-A746-EDCC13D3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检验30米、500米、1公里和11公里变量的空间损失是否系统不同。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94F92-21B8-4AAC-82BF-90DB026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71C94-E664-4ED7-865E-7E09048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69382-7E0F-4DEA-8B2D-C9D88AC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完成多尺度敏感性分析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90A98-F858-4643-B447-42ECE04D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改变提取窗口和空间分块尺度，确定结论在哪些尺度上稳定。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9D79A-6AF4-4C8E-96DF-45323C1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925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860A6-CD63-4EAF-9B61-172D944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希望讨论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F516D-A165-48B2-800A-2AFD333B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主评价应优先采用“空间分块”还是“按原生气候像元分组”的交叉验证？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BE183-5FD3-456B-BC44-1FE1578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87CEA-F33D-472E-B54E-0C6BE038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53041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2026-08-24T06:55:19.9300000Z</dcterms:created>
  <dcterms:modified xsi:type="dcterms:W3CDTF">2026-08-24T06:55:19.9300000Z</dcterms:modified>
</coreProperties>
</file>