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9"/>
  </p:normalViewPr>
  <p:slideViewPr>
    <p:cSldViewPr snapToGrid="0">
      <p:cViewPr varScale="1">
        <p:scale>
          <a:sx n="110" d="100"/>
          <a:sy n="110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GBA</c:v>
          </c:tx>
          <c:spPr>
            <a:solidFill>
              <a:srgbClr val="F0A07A"/>
            </a:solidFill>
          </c:spPr>
          <c:invertIfNegative val="1"/>
          <c:cat>
            <c:strLit>
              <c:ptCount val="4"/>
              <c:pt idx="0">
                <c:v>RF random</c:v>
              </c:pt>
              <c:pt idx="1">
                <c:v>RF spatial</c:v>
              </c:pt>
              <c:pt idx="2">
                <c:v>Transformer random</c:v>
              </c:pt>
              <c:pt idx="3">
                <c:v>Transformer spatial</c:v>
              </c:pt>
            </c:strLit>
          </c:cat>
          <c:val>
            <c:numLit>
              <c:formatCode>0.0</c:formatCode>
              <c:ptCount val="4"/>
              <c:pt idx="0">
                <c:v>0.66200000000000003</c:v>
              </c:pt>
              <c:pt idx="1">
                <c:v>0.443</c:v>
              </c:pt>
              <c:pt idx="2">
                <c:v>0.41399999999999998</c:v>
              </c:pt>
              <c:pt idx="3">
                <c:v>0.20200000000000001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065-AE4D-81C6-BC91F6B82832}"/>
            </c:ext>
          </c:extLst>
        </c:ser>
        <c:ser>
          <c:idx val="1"/>
          <c:order val="1"/>
          <c:tx>
            <c:v>Guangdong</c:v>
          </c:tx>
          <c:spPr>
            <a:solidFill>
              <a:srgbClr val="2E6FB5"/>
            </a:solidFill>
          </c:spPr>
          <c:invertIfNegative val="1"/>
          <c:cat>
            <c:strLit>
              <c:ptCount val="4"/>
              <c:pt idx="0">
                <c:v>RF random</c:v>
              </c:pt>
              <c:pt idx="1">
                <c:v>RF spatial</c:v>
              </c:pt>
              <c:pt idx="2">
                <c:v>Transformer random</c:v>
              </c:pt>
              <c:pt idx="3">
                <c:v>Transformer spatial</c:v>
              </c:pt>
            </c:strLit>
          </c:cat>
          <c:val>
            <c:numLit>
              <c:formatCode>0.0</c:formatCode>
              <c:ptCount val="4"/>
              <c:pt idx="0">
                <c:v>0.65100000000000002</c:v>
              </c:pt>
              <c:pt idx="1">
                <c:v>0.56200000000000006</c:v>
              </c:pt>
              <c:pt idx="2">
                <c:v>0.44800000000000001</c:v>
              </c:pt>
              <c:pt idx="3">
                <c:v>0.36099999999999999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065-AE4D-81C6-BC91F6B82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8CDD3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01214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w="9525">
              <a:solidFill>
                <a:srgbClr val="E6E8EA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46B75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01214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老师好，这次汇报项目的最新进度。项目已经从合成数据复现推进到真实</a:t>
            </a:r>
            <a:r>
              <a:rPr dirty="0"/>
              <a:t> </a:t>
            </a:r>
            <a:r>
              <a:rPr dirty="0" err="1"/>
              <a:t>AlphaEarth</a:t>
            </a:r>
            <a:r>
              <a:rPr dirty="0"/>
              <a:t> 数据，并完成了大湾区的端到端分析。最近一阶段的重点是把研究范围扩展到广东省，用更大的空间覆盖检验此前发现的空间泛化问题。今天主要汇报已经完成的工作、广东省首轮结果，以及下一步需要继续验证的环节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</a:t>
            </a:r>
            <a:r>
              <a:rPr dirty="0" err="1"/>
              <a:t>README.md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REPORT.md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项目的研究目标没有变化：希望判断</a:t>
            </a:r>
            <a:r>
              <a:rPr dirty="0"/>
              <a:t> </a:t>
            </a:r>
            <a:r>
              <a:rPr dirty="0" err="1"/>
              <a:t>AlphaEarth</a:t>
            </a:r>
            <a:r>
              <a:rPr dirty="0"/>
              <a:t> 嵌入是否包含稳定、可解释并且可迁移的环境信息。变化的是问题层级。前期解决的是方法能否跑通，随后在大湾区真实数据上验证解释能力；质量审计发现真正的瓶颈是空间迁移，因此当前已经进入广东省扩展和跨区域稳健性验证阶段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</a:t>
            </a:r>
            <a:r>
              <a:rPr dirty="0" err="1"/>
              <a:t>README.md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QUALITY_AUDIT_REPORT.md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大湾区阶段已经形成三个闭环。第一是数据和方法闭环：真实</a:t>
            </a:r>
            <a:r>
              <a:rPr dirty="0"/>
              <a:t> AlphaEarth、26 </a:t>
            </a:r>
            <a:r>
              <a:rPr dirty="0" err="1"/>
              <a:t>个环境变量、三种解释模型都已跑通。第二是解释和验证闭环：建立了三方法维度字典，并筛出</a:t>
            </a:r>
            <a:r>
              <a:rPr dirty="0"/>
              <a:t> 17 </a:t>
            </a:r>
            <a:r>
              <a:rPr dirty="0" err="1"/>
              <a:t>个同时满足方法一致和时间稳定的维度。第三是应用闭环：建立</a:t>
            </a:r>
            <a:r>
              <a:rPr dirty="0"/>
              <a:t> FAISS </a:t>
            </a:r>
            <a:r>
              <a:rPr dirty="0" err="1"/>
              <a:t>索引和</a:t>
            </a:r>
            <a:r>
              <a:rPr dirty="0"/>
              <a:t> RAG </a:t>
            </a:r>
            <a:r>
              <a:rPr dirty="0" err="1"/>
              <a:t>原型，并完成</a:t>
            </a:r>
            <a:r>
              <a:rPr dirty="0"/>
              <a:t> 360 </a:t>
            </a:r>
            <a:r>
              <a:rPr dirty="0" err="1"/>
              <a:t>次可回查的证据评测。当前尚未完成的是外部多模型评审，因此不会把确定性评分与原论文的</a:t>
            </a:r>
            <a:r>
              <a:rPr dirty="0"/>
              <a:t> LLM </a:t>
            </a:r>
            <a:r>
              <a:rPr dirty="0" err="1"/>
              <a:t>评分直接比较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EXTENDED_REPORT.md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dimension_dictionary.json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lsi</a:t>
            </a:r>
            <a:r>
              <a:rPr dirty="0"/>
              <a:t>/</a:t>
            </a:r>
            <a:r>
              <a:rPr dirty="0" err="1"/>
              <a:t>manifest.json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大湾区主结果支持</a:t>
            </a:r>
            <a:r>
              <a:rPr dirty="0"/>
              <a:t> </a:t>
            </a:r>
            <a:r>
              <a:rPr dirty="0" err="1"/>
              <a:t>AlphaEarth</a:t>
            </a:r>
            <a:r>
              <a:rPr dirty="0"/>
              <a:t> </a:t>
            </a:r>
            <a:r>
              <a:rPr dirty="0" err="1"/>
              <a:t>嵌入具有可解释环境信息：随机森林平均随机验证</a:t>
            </a:r>
            <a:r>
              <a:rPr dirty="0"/>
              <a:t> R </a:t>
            </a:r>
            <a:r>
              <a:rPr dirty="0" err="1"/>
              <a:t>方为</a:t>
            </a:r>
            <a:r>
              <a:rPr dirty="0"/>
              <a:t> 0.662，17 </a:t>
            </a:r>
            <a:r>
              <a:rPr dirty="0" err="1"/>
              <a:t>个变量超过</a:t>
            </a:r>
            <a:r>
              <a:rPr dirty="0"/>
              <a:t> 0.7。但空间分块后平均降到 0.443，平均空间损失为 0.218。海拔和建成区相对稳健，而植被、人口和夜光等变量下降明显。这个结果把研究重点从模型拟合能力转向空间泛化能力。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REPORT.md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analysis_results_paper_method.json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rf_random_vs_spatial.png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质量审计进一步定位了问题。随机行验证确实会因为同一地点跨年份出现而偏乐观，但随机行和位置分组的差距不大；真正更大的差距来自空间分块。学习曲线显示，独立位置从 500 </a:t>
            </a:r>
            <a:r>
              <a:rPr dirty="0" err="1"/>
              <a:t>增加到</a:t>
            </a:r>
            <a:r>
              <a:rPr dirty="0"/>
              <a:t> 7605 </a:t>
            </a:r>
            <a:r>
              <a:rPr dirty="0" err="1"/>
              <a:t>时三种验证都在改善，虽然末段趋缓。因此最有信息增益的下一步不是继续增加模型复杂度，而是扩大空间范围和环境梯度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QUALITY_AUDIT_REPORT.md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quality_learning_curves.png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最近完成的是广东省数据扩展。区域覆盖</a:t>
            </a:r>
            <a:r>
              <a:rPr dirty="0"/>
              <a:t> 21 </a:t>
            </a:r>
            <a:r>
              <a:rPr dirty="0" err="1"/>
              <a:t>个地级市，每年</a:t>
            </a:r>
            <a:r>
              <a:rPr dirty="0"/>
              <a:t> 25125 个独立位置，2017 </a:t>
            </a:r>
            <a:r>
              <a:rPr dirty="0" err="1"/>
              <a:t>到</a:t>
            </a:r>
            <a:r>
              <a:rPr dirty="0"/>
              <a:t> 2023 </a:t>
            </a:r>
            <a:r>
              <a:rPr dirty="0" err="1"/>
              <a:t>年共</a:t>
            </a:r>
            <a:r>
              <a:rPr dirty="0"/>
              <a:t> 175875 </a:t>
            </a:r>
            <a:r>
              <a:rPr dirty="0" err="1"/>
              <a:t>条观测，是大湾区独立位置数的</a:t>
            </a:r>
            <a:r>
              <a:rPr dirty="0"/>
              <a:t> 3.2 </a:t>
            </a:r>
            <a:r>
              <a:rPr dirty="0" err="1"/>
              <a:t>倍。数据口径保持一致，包括</a:t>
            </a:r>
            <a:r>
              <a:rPr dirty="0"/>
              <a:t> 0.025 度采样网格、64 </a:t>
            </a:r>
            <a:r>
              <a:rPr dirty="0" err="1"/>
              <a:t>维</a:t>
            </a:r>
            <a:r>
              <a:rPr dirty="0"/>
              <a:t> AlphaEarth、26 </a:t>
            </a:r>
            <a:r>
              <a:rPr dirty="0" err="1"/>
              <a:t>个环境变量和相同空间验证方案。随机森林和紧凑</a:t>
            </a:r>
            <a:r>
              <a:rPr dirty="0"/>
              <a:t> Transformer </a:t>
            </a:r>
            <a:r>
              <a:rPr dirty="0" err="1"/>
              <a:t>的首轮结果都已经生成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-reproduction-main/data/processed/guangdong_sampling_points_0025deg.summary.json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guangdong_real</a:t>
            </a:r>
            <a:r>
              <a:rPr dirty="0"/>
              <a:t>/</a:t>
            </a:r>
            <a:r>
              <a:rPr dirty="0" err="1"/>
              <a:t>guangdong_sampling_coverage.png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guangdong_real</a:t>
            </a:r>
            <a:r>
              <a:rPr dirty="0"/>
              <a:t>/</a:t>
            </a:r>
            <a:r>
              <a:rPr dirty="0" err="1"/>
              <a:t>analysis_results_paper_method.json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guangdong_real</a:t>
            </a:r>
            <a:r>
              <a:rPr dirty="0"/>
              <a:t>/</a:t>
            </a:r>
            <a:r>
              <a:rPr dirty="0" err="1"/>
              <a:t>transformer_results.json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这是目前最重要的新结果。广东省的</a:t>
            </a:r>
            <a:r>
              <a:rPr dirty="0"/>
              <a:t> RF </a:t>
            </a:r>
            <a:r>
              <a:rPr dirty="0" err="1"/>
              <a:t>随机验证均值是</a:t>
            </a:r>
            <a:r>
              <a:rPr dirty="0"/>
              <a:t> 0.651，与大湾区的 0.662 </a:t>
            </a:r>
            <a:r>
              <a:rPr dirty="0" err="1"/>
              <a:t>基本持平；但空间验证从</a:t>
            </a:r>
            <a:r>
              <a:rPr dirty="0"/>
              <a:t> 0.443 </a:t>
            </a:r>
            <a:r>
              <a:rPr dirty="0" err="1"/>
              <a:t>提升到</a:t>
            </a:r>
            <a:r>
              <a:rPr dirty="0"/>
              <a:t> 0.562，平均空间损失从 0.218 </a:t>
            </a:r>
            <a:r>
              <a:rPr dirty="0" err="1"/>
              <a:t>降到</a:t>
            </a:r>
            <a:r>
              <a:rPr dirty="0"/>
              <a:t> 0.090。前十变量的空间损失下降约 77%。Transformer </a:t>
            </a:r>
            <a:r>
              <a:rPr dirty="0" err="1"/>
              <a:t>也出现类似趋势，空间均值从</a:t>
            </a:r>
            <a:r>
              <a:rPr dirty="0"/>
              <a:t> 0.202 </a:t>
            </a:r>
            <a:r>
              <a:rPr dirty="0" err="1"/>
              <a:t>提升到</a:t>
            </a:r>
            <a:r>
              <a:rPr dirty="0"/>
              <a:t> 0.361。说明扩大空间覆盖主要改善的是未见区域泛化，而不是简单抬高随机分数。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analysis_results_paper_method.json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guangdong_real</a:t>
            </a:r>
            <a:r>
              <a:rPr dirty="0"/>
              <a:t>/</a:t>
            </a:r>
            <a:r>
              <a:rPr dirty="0" err="1"/>
              <a:t>analysis_results_paper_method.json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transformer_results.json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guangdong_real</a:t>
            </a:r>
            <a:r>
              <a:rPr dirty="0"/>
              <a:t>/</a:t>
            </a:r>
            <a:r>
              <a:rPr dirty="0" err="1"/>
              <a:t>transformer_results.json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当前结果还不能直接下最终结论。大湾区公平基线显示，在相同空间折下</a:t>
            </a:r>
            <a:r>
              <a:rPr dirty="0"/>
              <a:t> </a:t>
            </a:r>
            <a:r>
              <a:rPr dirty="0" err="1"/>
              <a:t>AlphaEarth</a:t>
            </a:r>
            <a:r>
              <a:rPr dirty="0"/>
              <a:t> </a:t>
            </a:r>
            <a:r>
              <a:rPr dirty="0" err="1"/>
              <a:t>和联合输入都优于仅坐标，因此嵌入不是纯粹的坐标代理。但广东省中气温、植被等变量的坐标基线仍然很强，而且</a:t>
            </a:r>
            <a:r>
              <a:rPr dirty="0"/>
              <a:t> Spearman </a:t>
            </a:r>
            <a:r>
              <a:rPr dirty="0" err="1"/>
              <a:t>与</a:t>
            </a:r>
            <a:r>
              <a:rPr dirty="0"/>
              <a:t> RF </a:t>
            </a:r>
            <a:r>
              <a:rPr dirty="0" err="1"/>
              <a:t>的方法收敛度只有</a:t>
            </a:r>
            <a:r>
              <a:rPr dirty="0"/>
              <a:t> 0.231。下一步必须完成广东省三种子公平审计、跨城市留出和跨区域维度字典比较，才能区分真实环境信息、坐标混杂和区域尺度效应。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QUALITY_AUDIT_REPORT.md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quality_fair_baselines.png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guangdong_real</a:t>
            </a:r>
            <a:r>
              <a:rPr dirty="0"/>
              <a:t>/</a:t>
            </a:r>
            <a:r>
              <a:rPr dirty="0" err="1"/>
              <a:t>analysis_results_paper_method.json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下一阶段我计划按三个优先级推进。第一，完成广东省质量审计，验证首轮结果在随机种子、坐标基线和跨城市留出下是否稳定。第二，重建广东省维度字典并与大湾区比较，筛选真正跨区域一致的解释。第三，再扩展省域 FAISS </a:t>
            </a:r>
            <a:r>
              <a:rPr dirty="0" err="1"/>
              <a:t>和</a:t>
            </a:r>
            <a:r>
              <a:rPr dirty="0"/>
              <a:t> RAG，并加入外部模型或专家评测。这里希望老师重点指导两个问题：主评价应采用空间分块还是留一城市，以及下一阶段优先做稳健解释字典还是应用演示。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-reproduction-main/results/</a:t>
            </a:r>
            <a:r>
              <a:rPr dirty="0" err="1"/>
              <a:t>gba_real</a:t>
            </a:r>
            <a:r>
              <a:rPr dirty="0"/>
              <a:t>/</a:t>
            </a:r>
            <a:r>
              <a:rPr dirty="0" err="1"/>
              <a:t>QUALITY_AUDIT_REPORT.md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generate_guangdong_comparison_report.py</a:t>
            </a:r>
            <a:endParaRPr dirty="0"/>
          </a:p>
          <a:p>
            <a:r>
              <a:rPr dirty="0"/>
              <a:t>- /Users/</a:t>
            </a:r>
            <a:r>
              <a:rPr dirty="0" err="1"/>
              <a:t>chabing</a:t>
            </a:r>
            <a:r>
              <a:rPr dirty="0"/>
              <a:t>/Desktop/project/</a:t>
            </a:r>
            <a:r>
              <a:rPr dirty="0" err="1"/>
              <a:t>alphaearth</a:t>
            </a:r>
            <a:r>
              <a:rPr dirty="0"/>
              <a:t>-reproduction-main/</a:t>
            </a:r>
            <a:r>
              <a:rPr dirty="0" err="1"/>
              <a:t>README.md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B7D7E70-32DB-4FF4-A577-3C975E3C0C6C}"/>
              </a:ext>
            </a:extLst>
          </p:cNvPr>
          <p:cNvSpPr>
            <a:spLocks noGrp="1"/>
          </p:cNvSpPr>
          <p:nvPr/>
        </p:nvSpPr>
        <p:spPr>
          <a:xfrm>
            <a:off x="495300" y="45720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52"/>
          </a:bodyPr>
          <a:lstStyle/>
          <a:p>
            <a:pPr algn="l">
              <a:defRPr sz="172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endParaRPr sz="1725" b="1" dirty="0">
              <a:solidFill>
                <a:srgbClr val="208B83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7ADA01-B277-4DA6-8BF2-13E413F1025D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90487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Autofit/>
          </a:bodyPr>
          <a:lstStyle/>
          <a:p>
            <a:pPr algn="l">
              <a:defRPr sz="46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AlphaEarth 嵌入可解释性</a:t>
            </a:r>
          </a:p>
          <a:p>
            <a:pPr algn="l">
              <a:defRPr sz="46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区域复现与泛化验证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AD8B2B-EABC-4EE5-A803-74E023276974}"/>
              </a:ext>
            </a:extLst>
          </p:cNvPr>
          <p:cNvSpPr>
            <a:spLocks noGrp="1"/>
          </p:cNvSpPr>
          <p:nvPr/>
        </p:nvSpPr>
        <p:spPr>
          <a:xfrm>
            <a:off x="495300" y="4362450"/>
            <a:ext cx="1666875" cy="76200"/>
          </a:xfrm>
          <a:prstGeom prst="rect">
            <a:avLst/>
          </a:prstGeom>
          <a:solidFill>
            <a:srgbClr val="D9683B"/>
          </a:solidFill>
          <a:ln w="0">
            <a:solidFill>
              <a:srgbClr val="D968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9107D4-BB45-4140-AD6E-42A3ADF8DBDC}"/>
              </a:ext>
            </a:extLst>
          </p:cNvPr>
          <p:cNvSpPr>
            <a:spLocks noGrp="1"/>
          </p:cNvSpPr>
          <p:nvPr/>
        </p:nvSpPr>
        <p:spPr>
          <a:xfrm>
            <a:off x="495300" y="4762500"/>
            <a:ext cx="685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从粤港澳大湾区扩展到广东省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7FFC25-9FA7-40AA-B432-B4046D9F2C3F}"/>
              </a:ext>
            </a:extLst>
          </p:cNvPr>
          <p:cNvSpPr>
            <a:spLocks noGrp="1"/>
          </p:cNvSpPr>
          <p:nvPr/>
        </p:nvSpPr>
        <p:spPr>
          <a:xfrm>
            <a:off x="495300" y="57150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 dirty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Xu</a:t>
            </a:r>
            <a:r>
              <a:rPr lang="en-US" sz="1575" b="0" dirty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lang="en-US" sz="1575" dirty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Z</a:t>
            </a:r>
            <a:r>
              <a:rPr sz="1575" b="0" dirty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ihan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68BE17-97D3-43EA-8690-4E26B2AC5210}"/>
              </a:ext>
            </a:extLst>
          </p:cNvPr>
          <p:cNvSpPr>
            <a:spLocks noGrp="1"/>
          </p:cNvSpPr>
          <p:nvPr/>
        </p:nvSpPr>
        <p:spPr>
          <a:xfrm>
            <a:off x="10715625" y="0"/>
            <a:ext cx="1476375" cy="6858000"/>
          </a:xfrm>
          <a:prstGeom prst="rect">
            <a:avLst/>
          </a:prstGeom>
          <a:solidFill>
            <a:srgbClr val="E7F3F1"/>
          </a:solidFill>
          <a:ln w="0">
            <a:solidFill>
              <a:srgbClr val="E7F3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C9682A-770A-496A-B23B-20630B883CB3}"/>
              </a:ext>
            </a:extLst>
          </p:cNvPr>
          <p:cNvSpPr>
            <a:spLocks noGrp="1"/>
          </p:cNvSpPr>
          <p:nvPr/>
        </p:nvSpPr>
        <p:spPr>
          <a:xfrm>
            <a:off x="10715625" y="4686300"/>
            <a:ext cx="1476375" cy="2171700"/>
          </a:xfrm>
          <a:prstGeom prst="rect">
            <a:avLst/>
          </a:prstGeom>
          <a:solidFill>
            <a:srgbClr val="208B83"/>
          </a:solidFill>
          <a:ln w="0">
            <a:solidFill>
              <a:srgbClr val="208B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934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2-title">
            <a:extLst>
              <a:ext uri="{FF2B5EF4-FFF2-40B4-BE49-F238E27FC236}">
                <a16:creationId xmlns:a16="http://schemas.microsoft.com/office/drawing/2014/main" id="{A59853D3-20B7-4317-8F9E-4D10E3A0573F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项目已从“能否复现”推进到“能否跨区域泛化”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A50AA7-77B1-4676-92E4-64F25C091931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93813-A8E9-4020-84B4-8B57898D0CAD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研究目标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B6BB1A-816F-4C0E-BB0B-83E83B67CEA2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490537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148"/>
          </a:bodyPr>
          <a:lstStyle/>
          <a:p>
            <a:pPr algn="l">
              <a:def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检验 AlphaEarth 的 64 维嵌入是否包含稳定、可解释、可迁移的地表环境信息。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E6648A-A3D5-4DFE-8DFA-2161A9C4FCA9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当前核心问题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50A599-3E8E-40F3-8A6D-E12BB3CFE72E}"/>
              </a:ext>
            </a:extLst>
          </p:cNvPr>
          <p:cNvSpPr>
            <a:spLocks noGrp="1"/>
          </p:cNvSpPr>
          <p:nvPr/>
        </p:nvSpPr>
        <p:spPr>
          <a:xfrm>
            <a:off x="552450" y="4238625"/>
            <a:ext cx="490537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大湾区内的高随机验证分数，在更大空间范围和未见区域上是否仍成立？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13C259-A2B0-4897-8988-4675AA216A8D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5095875" cy="4000500"/>
          </a:xfrm>
          <a:prstGeom prst="rect">
            <a:avLst/>
          </a:prstGeom>
          <a:solidFill>
            <a:srgbClr val="F4F5F6"/>
          </a:solidFill>
          <a:ln w="0">
            <a:solidFill>
              <a:srgbClr val="F4F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85E33E-C33A-48E4-959F-246A5C033C32}"/>
              </a:ext>
            </a:extLst>
          </p:cNvPr>
          <p:cNvSpPr>
            <a:spLocks noGrp="1"/>
          </p:cNvSpPr>
          <p:nvPr/>
        </p:nvSpPr>
        <p:spPr>
          <a:xfrm>
            <a:off x="6572250" y="1885950"/>
            <a:ext cx="152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阶段路径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065116-27EC-404D-937D-1AC8F1811CAD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2F8CDE-83C5-4326-9B25-64AA48B0100C}"/>
              </a:ext>
            </a:extLst>
          </p:cNvPr>
          <p:cNvSpPr>
            <a:spLocks noGrp="1"/>
          </p:cNvSpPr>
          <p:nvPr/>
        </p:nvSpPr>
        <p:spPr>
          <a:xfrm>
            <a:off x="7029450" y="25336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合成数据复现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A7FFF1-391E-4E2A-BB6D-1AB7EF8248AF}"/>
              </a:ext>
            </a:extLst>
          </p:cNvPr>
          <p:cNvSpPr>
            <a:spLocks noGrp="1"/>
          </p:cNvSpPr>
          <p:nvPr/>
        </p:nvSpPr>
        <p:spPr>
          <a:xfrm>
            <a:off x="9667875" y="2533650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已完成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36FE3B-CC72-4796-B2D6-A6C59F40B6B1}"/>
              </a:ext>
            </a:extLst>
          </p:cNvPr>
          <p:cNvSpPr>
            <a:spLocks noGrp="1"/>
          </p:cNvSpPr>
          <p:nvPr/>
        </p:nvSpPr>
        <p:spPr>
          <a:xfrm>
            <a:off x="6572250" y="31813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rPr>
              <a:t>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FE903C-8DE7-42E8-B8DA-BA18926CAB9A}"/>
              </a:ext>
            </a:extLst>
          </p:cNvPr>
          <p:cNvSpPr>
            <a:spLocks noGrp="1"/>
          </p:cNvSpPr>
          <p:nvPr/>
        </p:nvSpPr>
        <p:spPr>
          <a:xfrm>
            <a:off x="7029450" y="31813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大湾区真实数据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0213E1-3278-42D4-B70A-5EFCD7EA576F}"/>
              </a:ext>
            </a:extLst>
          </p:cNvPr>
          <p:cNvSpPr>
            <a:spLocks noGrp="1"/>
          </p:cNvSpPr>
          <p:nvPr/>
        </p:nvSpPr>
        <p:spPr>
          <a:xfrm>
            <a:off x="9667875" y="3181350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rPr>
              <a:t>已完成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85E30D-E56B-4989-8D31-7CB2F1FC52B0}"/>
              </a:ext>
            </a:extLst>
          </p:cNvPr>
          <p:cNvSpPr>
            <a:spLocks noGrp="1"/>
          </p:cNvSpPr>
          <p:nvPr/>
        </p:nvSpPr>
        <p:spPr>
          <a:xfrm>
            <a:off x="6572250" y="38290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60DC85-286D-48EA-B3B2-C4E29FD70731}"/>
              </a:ext>
            </a:extLst>
          </p:cNvPr>
          <p:cNvSpPr>
            <a:spLocks noGrp="1"/>
          </p:cNvSpPr>
          <p:nvPr/>
        </p:nvSpPr>
        <p:spPr>
          <a:xfrm>
            <a:off x="7029450" y="38290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广东省扩展验证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C217FE-EB1E-40A5-8D99-CEBA00CDEA75}"/>
              </a:ext>
            </a:extLst>
          </p:cNvPr>
          <p:cNvSpPr>
            <a:spLocks noGrp="1"/>
          </p:cNvSpPr>
          <p:nvPr/>
        </p:nvSpPr>
        <p:spPr>
          <a:xfrm>
            <a:off x="9667875" y="3829050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首轮完成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1B4F16-E242-4705-8CF9-43C7AA2E882D}"/>
              </a:ext>
            </a:extLst>
          </p:cNvPr>
          <p:cNvSpPr>
            <a:spLocks noGrp="1"/>
          </p:cNvSpPr>
          <p:nvPr/>
        </p:nvSpPr>
        <p:spPr>
          <a:xfrm>
            <a:off x="6572250" y="447675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5AAF052-6C09-4171-ADC0-BFE9549520A5}"/>
              </a:ext>
            </a:extLst>
          </p:cNvPr>
          <p:cNvSpPr>
            <a:spLocks noGrp="1"/>
          </p:cNvSpPr>
          <p:nvPr/>
        </p:nvSpPr>
        <p:spPr>
          <a:xfrm>
            <a:off x="7029450" y="44767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跨区域稳健性闭环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222BA5-6AF2-44E9-9869-45E9EB857ADA}"/>
              </a:ext>
            </a:extLst>
          </p:cNvPr>
          <p:cNvSpPr>
            <a:spLocks noGrp="1"/>
          </p:cNvSpPr>
          <p:nvPr/>
        </p:nvSpPr>
        <p:spPr>
          <a:xfrm>
            <a:off x="9667875" y="4476750"/>
            <a:ext cx="1190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r">
              <a:defRPr sz="13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进行中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94C977-EB47-49F3-8B68-3B2F8F020009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AlphaEarth 区域复现 · 组会进度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F373D2-08AF-4C5B-9928-204B6543DC06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5361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3-title">
            <a:extLst>
              <a:ext uri="{FF2B5EF4-FFF2-40B4-BE49-F238E27FC236}">
                <a16:creationId xmlns:a16="http://schemas.microsoft.com/office/drawing/2014/main" id="{05E9E213-DF42-4F17-9FEA-448CEAEDF64A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大湾区阶段已经完成数据、解释和应用三个闭环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202483-7812-4D49-A88B-083B5329A8D5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F955A2-F4F0-4E44-A37D-11FC6CAF0C63}"/>
              </a:ext>
            </a:extLst>
          </p:cNvPr>
          <p:cNvSpPr>
            <a:spLocks noGrp="1"/>
          </p:cNvSpPr>
          <p:nvPr/>
        </p:nvSpPr>
        <p:spPr>
          <a:xfrm>
            <a:off x="714375" y="3352800"/>
            <a:ext cx="10477500" cy="28575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C569A7-7298-45A2-BCD9-C41B4B333CA5}"/>
              </a:ext>
            </a:extLst>
          </p:cNvPr>
          <p:cNvSpPr>
            <a:spLocks noGrp="1"/>
          </p:cNvSpPr>
          <p:nvPr/>
        </p:nvSpPr>
        <p:spPr>
          <a:xfrm>
            <a:off x="714375" y="27146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rPr>
              <a:t>数据与方法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BCF37F3-7989-4331-AF69-3E2D74C3C36C}"/>
              </a:ext>
            </a:extLst>
          </p:cNvPr>
          <p:cNvSpPr>
            <a:spLocks noGrp="1"/>
          </p:cNvSpPr>
          <p:nvPr/>
        </p:nvSpPr>
        <p:spPr>
          <a:xfrm>
            <a:off x="714375" y="3219450"/>
            <a:ext cx="285750" cy="285750"/>
          </a:xfrm>
          <a:prstGeom prst="ellipse">
            <a:avLst/>
          </a:prstGeom>
          <a:solidFill>
            <a:srgbClr val="2E6FB5"/>
          </a:solidFill>
          <a:ln w="0">
            <a:solidFill>
              <a:srgbClr val="2E6F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B170BC-F0E9-4C6E-AD57-F65EC62EEC9A}"/>
              </a:ext>
            </a:extLst>
          </p:cNvPr>
          <p:cNvSpPr>
            <a:spLocks noGrp="1"/>
          </p:cNvSpPr>
          <p:nvPr/>
        </p:nvSpPr>
        <p:spPr>
          <a:xfrm>
            <a:off x="714375" y="38290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54,614 条真实观测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35BC7B-4568-4097-B2F4-F685805BB9AB}"/>
              </a:ext>
            </a:extLst>
          </p:cNvPr>
          <p:cNvSpPr>
            <a:spLocks noGrp="1"/>
          </p:cNvSpPr>
          <p:nvPr/>
        </p:nvSpPr>
        <p:spPr>
          <a:xfrm>
            <a:off x="714375" y="451485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7,802 个位置 × 7 年</a:t>
            </a:r>
          </a:p>
          <a:p>
            <a:pPr algn="l">
              <a:def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Spearman / RF / Transformer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98F09A-44DD-4885-90DD-D2B5C2E1E054}"/>
              </a:ext>
            </a:extLst>
          </p:cNvPr>
          <p:cNvSpPr>
            <a:spLocks noGrp="1"/>
          </p:cNvSpPr>
          <p:nvPr/>
        </p:nvSpPr>
        <p:spPr>
          <a:xfrm>
            <a:off x="4381500" y="27146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解释与验证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309525D-B3DB-48E2-B379-B672B9ECBF67}"/>
              </a:ext>
            </a:extLst>
          </p:cNvPr>
          <p:cNvSpPr>
            <a:spLocks noGrp="1"/>
          </p:cNvSpPr>
          <p:nvPr/>
        </p:nvSpPr>
        <p:spPr>
          <a:xfrm>
            <a:off x="4381500" y="3219450"/>
            <a:ext cx="285750" cy="285750"/>
          </a:xfrm>
          <a:prstGeom prst="ellipse">
            <a:avLst/>
          </a:prstGeom>
          <a:solidFill>
            <a:srgbClr val="208B83"/>
          </a:solidFill>
          <a:ln w="0">
            <a:solidFill>
              <a:srgbClr val="208B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9E0802-26A7-4406-9F0C-C6301F398686}"/>
              </a:ext>
            </a:extLst>
          </p:cNvPr>
          <p:cNvSpPr>
            <a:spLocks noGrp="1"/>
          </p:cNvSpPr>
          <p:nvPr/>
        </p:nvSpPr>
        <p:spPr>
          <a:xfrm>
            <a:off x="4381500" y="38290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三方法维度字典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A35C5B-1C65-435B-AC7F-BBC384D55A04}"/>
              </a:ext>
            </a:extLst>
          </p:cNvPr>
          <p:cNvSpPr>
            <a:spLocks noGrp="1"/>
          </p:cNvSpPr>
          <p:nvPr/>
        </p:nvSpPr>
        <p:spPr>
          <a:xfrm>
            <a:off x="4381500" y="451485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27/64 至少两方法一致</a:t>
            </a:r>
          </a:p>
          <a:p>
            <a:pPr algn="l">
              <a:def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17/64 稳健维度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911F8-11B4-44C1-93EF-A8D8F211D778}"/>
              </a:ext>
            </a:extLst>
          </p:cNvPr>
          <p:cNvSpPr>
            <a:spLocks noGrp="1"/>
          </p:cNvSpPr>
          <p:nvPr/>
        </p:nvSpPr>
        <p:spPr>
          <a:xfrm>
            <a:off x="8048625" y="27146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检索与问答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3772777-0C48-4F66-8EEC-8B824BBEC752}"/>
              </a:ext>
            </a:extLst>
          </p:cNvPr>
          <p:cNvSpPr>
            <a:spLocks noGrp="1"/>
          </p:cNvSpPr>
          <p:nvPr/>
        </p:nvSpPr>
        <p:spPr>
          <a:xfrm>
            <a:off x="8048625" y="3219450"/>
            <a:ext cx="285750" cy="285750"/>
          </a:xfrm>
          <a:prstGeom prst="ellipse">
            <a:avLst/>
          </a:prstGeom>
          <a:solidFill>
            <a:srgbClr val="D9683B"/>
          </a:solidFill>
          <a:ln w="0">
            <a:solidFill>
              <a:srgbClr val="D968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665F9F-1519-48DD-9EE9-EB6B2EA70662}"/>
              </a:ext>
            </a:extLst>
          </p:cNvPr>
          <p:cNvSpPr>
            <a:spLocks noGrp="1"/>
          </p:cNvSpPr>
          <p:nvPr/>
        </p:nvSpPr>
        <p:spPr>
          <a:xfrm>
            <a:off x="8048625" y="38290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FAISS / RAG 原型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DB3B06-D01A-4F34-B1B5-EB7CA60797AB}"/>
              </a:ext>
            </a:extLst>
          </p:cNvPr>
          <p:cNvSpPr>
            <a:spLocks noGrp="1"/>
          </p:cNvSpPr>
          <p:nvPr/>
        </p:nvSpPr>
        <p:spPr>
          <a:xfrm>
            <a:off x="8048625" y="4514850"/>
            <a:ext cx="3143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54,614 向量索引</a:t>
            </a:r>
          </a:p>
          <a:p>
            <a:pPr algn="l">
              <a:def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360 次证据一致性评测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8E31F4-EF83-41E9-AB07-01802CBCDBAE}"/>
              </a:ext>
            </a:extLst>
          </p:cNvPr>
          <p:cNvSpPr>
            <a:spLocks noGrp="1"/>
          </p:cNvSpPr>
          <p:nvPr/>
        </p:nvSpPr>
        <p:spPr>
          <a:xfrm>
            <a:off x="714375" y="56673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652"/>
          </a:bodyPr>
          <a:lstStyle/>
          <a:p>
            <a:pPr algn="l">
              <a:defRPr sz="172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目前缺口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3B38F2-F135-49AC-95C3-809E1AD3F452}"/>
              </a:ext>
            </a:extLst>
          </p:cNvPr>
          <p:cNvSpPr>
            <a:spLocks noGrp="1"/>
          </p:cNvSpPr>
          <p:nvPr/>
        </p:nvSpPr>
        <p:spPr>
          <a:xfrm>
            <a:off x="2190750" y="5638800"/>
            <a:ext cx="9048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四模型 LLM-as-Judge 尚未执行；现有 4.92/5 仅是确定性证据检查，不能与论文直接比较。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1879A6-609B-4A5C-AF64-CDA98B1D49DC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AlphaEarth 区域复现 · 组会进度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148E5A-FF51-42B3-AD79-3FE9CFFE9735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76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4-title">
            <a:extLst>
              <a:ext uri="{FF2B5EF4-FFF2-40B4-BE49-F238E27FC236}">
                <a16:creationId xmlns:a16="http://schemas.microsoft.com/office/drawing/2014/main" id="{CAE4870F-FBF3-46E9-A036-31822B9D3EAE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大湾区结果确认可解释性，但暴露明显空间迁移损失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0C43CD-00CE-46EA-BC51-92FEE1C4CB89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94457E5-DF6D-49CD-BD54-7E3C43A109D9}"/>
              </a:ext>
            </a:extLst>
          </p:cNvPr>
          <p:cNvSpPr>
            <a:spLocks noGrp="1"/>
          </p:cNvSpPr>
          <p:nvPr/>
        </p:nvSpPr>
        <p:spPr>
          <a:xfrm>
            <a:off x="457200" y="1381125"/>
            <a:ext cx="5810250" cy="466725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0848" y="1381125"/>
            <a:ext cx="4242955" cy="4667250"/>
          </a:xfrm>
          <a:prstGeom prst="roundRect">
            <a:avLst>
              <a:gd name="adj" fmla="val 2041"/>
            </a:avLst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49E2156-7DEA-4E66-82C7-A79C3C0CF3B6}"/>
              </a:ext>
            </a:extLst>
          </p:cNvPr>
          <p:cNvSpPr>
            <a:spLocks noGrp="1"/>
          </p:cNvSpPr>
          <p:nvPr/>
        </p:nvSpPr>
        <p:spPr>
          <a:xfrm>
            <a:off x="6762750" y="1476375"/>
            <a:ext cx="4524375" cy="1238250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CB0C3F-BEE3-4609-A221-A99EA7AA5B2F}"/>
              </a:ext>
            </a:extLst>
          </p:cNvPr>
          <p:cNvSpPr>
            <a:spLocks noGrp="1"/>
          </p:cNvSpPr>
          <p:nvPr/>
        </p:nvSpPr>
        <p:spPr>
          <a:xfrm>
            <a:off x="6762750" y="1476375"/>
            <a:ext cx="76200" cy="1238250"/>
          </a:xfrm>
          <a:prstGeom prst="rect">
            <a:avLst/>
          </a:prstGeom>
          <a:solidFill>
            <a:srgbClr val="2E6FB5"/>
          </a:solidFill>
          <a:ln w="0">
            <a:solidFill>
              <a:srgbClr val="2E6F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1A260E-6C31-42C3-A8C5-BA0BEBA900E5}"/>
              </a:ext>
            </a:extLst>
          </p:cNvPr>
          <p:cNvSpPr>
            <a:spLocks noGrp="1"/>
          </p:cNvSpPr>
          <p:nvPr/>
        </p:nvSpPr>
        <p:spPr>
          <a:xfrm>
            <a:off x="7000875" y="1657350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rPr>
              <a:t>0.662 → 0.443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75D8EA-9CB2-4D57-BE0D-D2617830F2AC}"/>
              </a:ext>
            </a:extLst>
          </p:cNvPr>
          <p:cNvSpPr>
            <a:spLocks noGrp="1"/>
          </p:cNvSpPr>
          <p:nvPr/>
        </p:nvSpPr>
        <p:spPr>
          <a:xfrm>
            <a:off x="7000875" y="22383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RF 平均随机 / 空间 CV R²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D8547D-7F3D-432E-B652-3A83ABE4E098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2143125" cy="1238250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4777E3-805B-4CD4-96BA-3C432A7EB28B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76200" cy="1238250"/>
          </a:xfrm>
          <a:prstGeom prst="rect">
            <a:avLst/>
          </a:prstGeom>
          <a:solidFill>
            <a:srgbClr val="D9683B"/>
          </a:solidFill>
          <a:ln w="0">
            <a:solidFill>
              <a:srgbClr val="D968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34D245-C565-4111-988A-D0C86DAB5B7D}"/>
              </a:ext>
            </a:extLst>
          </p:cNvPr>
          <p:cNvSpPr>
            <a:spLocks noGrp="1"/>
          </p:cNvSpPr>
          <p:nvPr/>
        </p:nvSpPr>
        <p:spPr>
          <a:xfrm>
            <a:off x="7000875" y="318135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0.218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23801B-1A90-44BF-AD01-96D4801376FE}"/>
              </a:ext>
            </a:extLst>
          </p:cNvPr>
          <p:cNvSpPr>
            <a:spLocks noGrp="1"/>
          </p:cNvSpPr>
          <p:nvPr/>
        </p:nvSpPr>
        <p:spPr>
          <a:xfrm>
            <a:off x="7000875" y="376237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平均空间 ΔR²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41AF19-04E3-4D2B-80AD-4B0C4FB61271}"/>
              </a:ext>
            </a:extLst>
          </p:cNvPr>
          <p:cNvSpPr>
            <a:spLocks noGrp="1"/>
          </p:cNvSpPr>
          <p:nvPr/>
        </p:nvSpPr>
        <p:spPr>
          <a:xfrm>
            <a:off x="9144000" y="3000375"/>
            <a:ext cx="2143125" cy="1238250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94FDAE-718A-40A4-BD4B-7F7A438548C0}"/>
              </a:ext>
            </a:extLst>
          </p:cNvPr>
          <p:cNvSpPr>
            <a:spLocks noGrp="1"/>
          </p:cNvSpPr>
          <p:nvPr/>
        </p:nvSpPr>
        <p:spPr>
          <a:xfrm>
            <a:off x="9144000" y="3000375"/>
            <a:ext cx="76200" cy="1238250"/>
          </a:xfrm>
          <a:prstGeom prst="rect">
            <a:avLst/>
          </a:prstGeom>
          <a:solidFill>
            <a:srgbClr val="208B83"/>
          </a:solidFill>
          <a:ln w="0">
            <a:solidFill>
              <a:srgbClr val="208B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3A7268-9615-4902-AA32-422B40B6D361}"/>
              </a:ext>
            </a:extLst>
          </p:cNvPr>
          <p:cNvSpPr>
            <a:spLocks noGrp="1"/>
          </p:cNvSpPr>
          <p:nvPr/>
        </p:nvSpPr>
        <p:spPr>
          <a:xfrm>
            <a:off x="9382125" y="318135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0.869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C8C7E7-F767-49EF-9188-629BB5120758}"/>
              </a:ext>
            </a:extLst>
          </p:cNvPr>
          <p:cNvSpPr>
            <a:spLocks noGrp="1"/>
          </p:cNvSpPr>
          <p:nvPr/>
        </p:nvSpPr>
        <p:spPr>
          <a:xfrm>
            <a:off x="9382125" y="376237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时间稳定性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769869-D9C6-4C1F-8E43-83771512A4DC}"/>
              </a:ext>
            </a:extLst>
          </p:cNvPr>
          <p:cNvSpPr>
            <a:spLocks noGrp="1"/>
          </p:cNvSpPr>
          <p:nvPr/>
        </p:nvSpPr>
        <p:spPr>
          <a:xfrm>
            <a:off x="6762750" y="4619625"/>
            <a:ext cx="4524375" cy="1143000"/>
          </a:xfrm>
          <a:prstGeom prst="rect">
            <a:avLst/>
          </a:prstGeom>
          <a:solidFill>
            <a:srgbClr val="FFF1E9"/>
          </a:solidFill>
          <a:ln w="0">
            <a:solidFill>
              <a:srgbClr val="FFF1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4E12DF-6964-440D-B8DE-CB76BC9AF2CB}"/>
              </a:ext>
            </a:extLst>
          </p:cNvPr>
          <p:cNvSpPr>
            <a:spLocks noGrp="1"/>
          </p:cNvSpPr>
          <p:nvPr/>
        </p:nvSpPr>
        <p:spPr>
          <a:xfrm>
            <a:off x="7048500" y="4838700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解释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61A38D-BE57-4DD6-A25A-61FDA656F951}"/>
              </a:ext>
            </a:extLst>
          </p:cNvPr>
          <p:cNvSpPr>
            <a:spLocks noGrp="1"/>
          </p:cNvSpPr>
          <p:nvPr/>
        </p:nvSpPr>
        <p:spPr>
          <a:xfrm>
            <a:off x="7905750" y="4800600"/>
            <a:ext cx="3095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778"/>
          </a:bodyPr>
          <a:lstStyle/>
          <a:p>
            <a:pPr algn="l">
              <a:defRPr sz="15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嵌入确实编码环境信号，但植被、人口和夜光等关系更偏局地，尚不能直接跨区域部署。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8F1E0A-EDBC-4FBD-9E85-84246B91CA4F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AlphaEarth 区域复现 · 组会进度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33D0682-DAC0-466A-88CD-AF72A54E6A7D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63804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5-title">
            <a:extLst>
              <a:ext uri="{FF2B5EF4-FFF2-40B4-BE49-F238E27FC236}">
                <a16:creationId xmlns:a16="http://schemas.microsoft.com/office/drawing/2014/main" id="{E2E3D0EA-517A-4C7C-B2E8-7C189F5C4BB4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质量审计表明：扩大独立位置比继续增加模型复杂度更重要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E08F15-D6AD-4DD0-BBCF-782D7A2E579C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D4D3E3-1757-438F-B100-91A2F09800E4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审计发现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74EF55-D500-4265-B585-5388AA55B79F}"/>
              </a:ext>
            </a:extLst>
          </p:cNvPr>
          <p:cNvSpPr>
            <a:spLocks noGrp="1"/>
          </p:cNvSpPr>
          <p:nvPr/>
        </p:nvSpPr>
        <p:spPr>
          <a:xfrm>
            <a:off x="523875" y="2143125"/>
            <a:ext cx="4095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• 随机行验证存在同地点跨年份泄漏</a:t>
            </a:r>
          </a:p>
          <a:p>
            <a:endParaRPr sz="1725" b="0">
              <a:solidFill>
                <a:srgbClr val="101214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17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• 更大的损失来自空间自相关与区域外推</a:t>
            </a:r>
          </a:p>
          <a:p>
            <a:endParaRPr sz="1725" b="0">
              <a:solidFill>
                <a:srgbClr val="101214"/>
              </a:solidFill>
              <a:latin typeface="Arial Unicode MS"/>
              <a:ea typeface="Arial Unicode MS"/>
              <a:cs typeface="Arial Unicode MS"/>
            </a:endParaRPr>
          </a:p>
          <a:p>
            <a:pPr algn="l">
              <a:defRPr sz="17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• 500 → 7,605 个位置仍持续提升，但后段趋缓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FC2EC-7DA1-4679-A8B5-F4F749CDCFF4}"/>
              </a:ext>
            </a:extLst>
          </p:cNvPr>
          <p:cNvSpPr>
            <a:spLocks noGrp="1"/>
          </p:cNvSpPr>
          <p:nvPr/>
        </p:nvSpPr>
        <p:spPr>
          <a:xfrm>
            <a:off x="523875" y="4905375"/>
            <a:ext cx="4095750" cy="952500"/>
          </a:xfrm>
          <a:prstGeom prst="rect">
            <a:avLst/>
          </a:prstGeom>
          <a:solidFill>
            <a:srgbClr val="E7F3F1"/>
          </a:solidFill>
          <a:ln w="0">
            <a:solidFill>
              <a:srgbClr val="E7F3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88C81E-3A11-464D-80C4-57B9E7E8251E}"/>
              </a:ext>
            </a:extLst>
          </p:cNvPr>
          <p:cNvSpPr>
            <a:spLocks noGrp="1"/>
          </p:cNvSpPr>
          <p:nvPr/>
        </p:nvSpPr>
        <p:spPr>
          <a:xfrm>
            <a:off x="781050" y="5133975"/>
            <a:ext cx="357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67"/>
          </a:bodyPr>
          <a:lstStyle/>
          <a:p>
            <a:pPr algn="l">
              <a:defRPr sz="16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因此：优先扩展到广东省，而不是继续堆叠模型或重复相同位置。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A12CD3A-7A46-47F4-BE0D-B345B8AFD3D6}"/>
              </a:ext>
            </a:extLst>
          </p:cNvPr>
          <p:cNvSpPr>
            <a:spLocks noGrp="1"/>
          </p:cNvSpPr>
          <p:nvPr/>
        </p:nvSpPr>
        <p:spPr>
          <a:xfrm>
            <a:off x="5095875" y="1428750"/>
            <a:ext cx="6638925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95875" y="1698028"/>
            <a:ext cx="6638925" cy="4033444"/>
          </a:xfrm>
          <a:prstGeom prst="roundRect">
            <a:avLst>
              <a:gd name="adj" fmla="val 2083"/>
            </a:avLst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14E220B-4FD7-4DB7-91BF-234E4250AEED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AlphaEarth 区域复现 · 组会进度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3F485C-725F-41D6-8FCE-8B1678037429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76326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6-title">
            <a:extLst>
              <a:ext uri="{FF2B5EF4-FFF2-40B4-BE49-F238E27FC236}">
                <a16:creationId xmlns:a16="http://schemas.microsoft.com/office/drawing/2014/main" id="{A60433B5-E5FA-4248-84ED-B6CEAA9C5BF0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最新进展：广东省数据已完成并跑通首轮 RF 与 Transformer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01A36B-A561-417D-8481-6263F41C3FB2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052C00-DDE7-4DD6-B2DB-C3308865C97A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2143125" cy="128587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CE886D-12B9-4FDC-B875-10BCC356ED85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76200" cy="1285875"/>
          </a:xfrm>
          <a:prstGeom prst="rect">
            <a:avLst/>
          </a:prstGeom>
          <a:solidFill>
            <a:srgbClr val="2E6FB5"/>
          </a:solidFill>
          <a:ln w="0">
            <a:solidFill>
              <a:srgbClr val="2E6F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D37A0E-78DF-4E3F-9BC1-A9D740355FDD}"/>
              </a:ext>
            </a:extLst>
          </p:cNvPr>
          <p:cNvSpPr>
            <a:spLocks noGrp="1"/>
          </p:cNvSpPr>
          <p:nvPr/>
        </p:nvSpPr>
        <p:spPr>
          <a:xfrm>
            <a:off x="695325" y="175260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rPr>
              <a:t>175,875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B38781-2E74-460F-83A5-029D3F8E5F4D}"/>
              </a:ext>
            </a:extLst>
          </p:cNvPr>
          <p:cNvSpPr>
            <a:spLocks noGrp="1"/>
          </p:cNvSpPr>
          <p:nvPr/>
        </p:nvSpPr>
        <p:spPr>
          <a:xfrm>
            <a:off x="695325" y="23336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2017–2023 总观测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6BF73F-A84B-4F2E-B974-CD1084D5B45C}"/>
              </a:ext>
            </a:extLst>
          </p:cNvPr>
          <p:cNvSpPr>
            <a:spLocks noGrp="1"/>
          </p:cNvSpPr>
          <p:nvPr/>
        </p:nvSpPr>
        <p:spPr>
          <a:xfrm>
            <a:off x="2838450" y="1571625"/>
            <a:ext cx="2143125" cy="128587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75EA32-7A76-4329-AA78-2F8EB3122B94}"/>
              </a:ext>
            </a:extLst>
          </p:cNvPr>
          <p:cNvSpPr>
            <a:spLocks noGrp="1"/>
          </p:cNvSpPr>
          <p:nvPr/>
        </p:nvSpPr>
        <p:spPr>
          <a:xfrm>
            <a:off x="2838450" y="1571625"/>
            <a:ext cx="76200" cy="1285875"/>
          </a:xfrm>
          <a:prstGeom prst="rect">
            <a:avLst/>
          </a:prstGeom>
          <a:solidFill>
            <a:srgbClr val="208B83"/>
          </a:solidFill>
          <a:ln w="0">
            <a:solidFill>
              <a:srgbClr val="208B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C0434C-E075-4DC7-A00C-4B3FF77128A4}"/>
              </a:ext>
            </a:extLst>
          </p:cNvPr>
          <p:cNvSpPr>
            <a:spLocks noGrp="1"/>
          </p:cNvSpPr>
          <p:nvPr/>
        </p:nvSpPr>
        <p:spPr>
          <a:xfrm>
            <a:off x="3076575" y="175260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25,125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E17859-84C9-440A-8AF8-C2A948003ED8}"/>
              </a:ext>
            </a:extLst>
          </p:cNvPr>
          <p:cNvSpPr>
            <a:spLocks noGrp="1"/>
          </p:cNvSpPr>
          <p:nvPr/>
        </p:nvSpPr>
        <p:spPr>
          <a:xfrm>
            <a:off x="3076575" y="2333625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独立采样位置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A013A2-516D-4CB2-8542-8495D11FF21B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2143125" cy="128587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CE0FFAE-AC14-4F2E-8EDC-316C27E8709E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76200" cy="1285875"/>
          </a:xfrm>
          <a:prstGeom prst="rect">
            <a:avLst/>
          </a:prstGeom>
          <a:solidFill>
            <a:srgbClr val="D9683B"/>
          </a:solidFill>
          <a:ln w="0">
            <a:solidFill>
              <a:srgbClr val="D968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E725ED-CAD2-4216-8A4E-0A34A0CFEB22}"/>
              </a:ext>
            </a:extLst>
          </p:cNvPr>
          <p:cNvSpPr>
            <a:spLocks noGrp="1"/>
          </p:cNvSpPr>
          <p:nvPr/>
        </p:nvSpPr>
        <p:spPr>
          <a:xfrm>
            <a:off x="695325" y="3324225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A37207-2B68-449A-BBD7-D457431FFD00}"/>
              </a:ext>
            </a:extLst>
          </p:cNvPr>
          <p:cNvSpPr>
            <a:spLocks noGrp="1"/>
          </p:cNvSpPr>
          <p:nvPr/>
        </p:nvSpPr>
        <p:spPr>
          <a:xfrm>
            <a:off x="695325" y="3905250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地级市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DA5793-53CE-422A-838D-FFFAADF5BFC6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2143125" cy="128587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0EB89D-2907-475A-8461-8C30333AAB41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76200" cy="1285875"/>
          </a:xfrm>
          <a:prstGeom prst="rect">
            <a:avLst/>
          </a:prstGeom>
          <a:solidFill>
            <a:srgbClr val="208B83"/>
          </a:solidFill>
          <a:ln w="0">
            <a:solidFill>
              <a:srgbClr val="208B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320152-BAB2-47B2-8295-AEECF82C1809}"/>
              </a:ext>
            </a:extLst>
          </p:cNvPr>
          <p:cNvSpPr>
            <a:spLocks noGrp="1"/>
          </p:cNvSpPr>
          <p:nvPr/>
        </p:nvSpPr>
        <p:spPr>
          <a:xfrm>
            <a:off x="3076575" y="3324225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3.2×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F4E0B0-E9F9-4B16-B443-28A61648FD37}"/>
              </a:ext>
            </a:extLst>
          </p:cNvPr>
          <p:cNvSpPr>
            <a:spLocks noGrp="1"/>
          </p:cNvSpPr>
          <p:nvPr/>
        </p:nvSpPr>
        <p:spPr>
          <a:xfrm>
            <a:off x="3076575" y="3905250"/>
            <a:ext cx="1714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位置数相对大湾区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2D350D4-CAC9-49CA-A697-B18047EAB021}"/>
              </a:ext>
            </a:extLst>
          </p:cNvPr>
          <p:cNvSpPr>
            <a:spLocks noGrp="1"/>
          </p:cNvSpPr>
          <p:nvPr/>
        </p:nvSpPr>
        <p:spPr>
          <a:xfrm>
            <a:off x="457200" y="4810125"/>
            <a:ext cx="4524375" cy="1000125"/>
          </a:xfrm>
          <a:prstGeom prst="rect">
            <a:avLst/>
          </a:prstGeom>
          <a:solidFill>
            <a:srgbClr val="F4F5F6"/>
          </a:solidFill>
          <a:ln w="0">
            <a:solidFill>
              <a:srgbClr val="F4F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3482327-C320-4681-9007-4A405C3ED282}"/>
              </a:ext>
            </a:extLst>
          </p:cNvPr>
          <p:cNvSpPr>
            <a:spLocks noGrp="1"/>
          </p:cNvSpPr>
          <p:nvPr/>
        </p:nvSpPr>
        <p:spPr>
          <a:xfrm>
            <a:off x="714375" y="50292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rPr>
              <a:t>同口径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00F2D8-41C3-4BB3-A5B5-7F5239908B0F}"/>
              </a:ext>
            </a:extLst>
          </p:cNvPr>
          <p:cNvSpPr>
            <a:spLocks noGrp="1"/>
          </p:cNvSpPr>
          <p:nvPr/>
        </p:nvSpPr>
        <p:spPr>
          <a:xfrm>
            <a:off x="1619250" y="4991100"/>
            <a:ext cx="3048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0.025° 网格 · 7 年 · 26 个环境变量</a:t>
            </a:r>
          </a:p>
          <a:p>
            <a:pPr algn="l">
              <a:defRPr sz="14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RF 每变量仍固定最多 30,000 行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29F6788-1B36-4039-A8FD-535F173D4711}"/>
              </a:ext>
            </a:extLst>
          </p:cNvPr>
          <p:cNvSpPr>
            <a:spLocks noGrp="1"/>
          </p:cNvSpPr>
          <p:nvPr/>
        </p:nvSpPr>
        <p:spPr>
          <a:xfrm>
            <a:off x="5476875" y="1381125"/>
            <a:ext cx="6257925" cy="466725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76875" y="1402794"/>
            <a:ext cx="6257925" cy="4623911"/>
          </a:xfrm>
          <a:prstGeom prst="roundRect">
            <a:avLst>
              <a:gd name="adj" fmla="val 2041"/>
            </a:avLst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290EE07A-8954-42FA-A753-C5DF9EF5C56E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AlphaEarth 区域复现 · 组会进度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59E75D-6C06-468C-9F4E-229F134B5D5C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99925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7-title">
            <a:extLst>
              <a:ext uri="{FF2B5EF4-FFF2-40B4-BE49-F238E27FC236}">
                <a16:creationId xmlns:a16="http://schemas.microsoft.com/office/drawing/2014/main" id="{323587E2-C4A7-4F02-B8E5-577668283464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省域扩展没有抬高随机分数，却显著改善空间泛化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76C8B1-5B53-4DE6-A97D-A66A546C37BC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" name="Chart"/>
          <p:cNvGraphicFramePr/>
          <p:nvPr/>
        </p:nvGraphicFramePr>
        <p:xfrm>
          <a:off x="400050" y="1381125"/>
          <a:ext cx="6953250" cy="461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8B57976-F87B-44DC-91FC-6E0955FAB436}"/>
              </a:ext>
            </a:extLst>
          </p:cNvPr>
          <p:cNvSpPr>
            <a:spLocks noGrp="1"/>
          </p:cNvSpPr>
          <p:nvPr/>
        </p:nvSpPr>
        <p:spPr>
          <a:xfrm>
            <a:off x="1028700" y="21431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0.662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EF94CF-0066-4115-B42E-3DEF355674B1}"/>
              </a:ext>
            </a:extLst>
          </p:cNvPr>
          <p:cNvSpPr>
            <a:spLocks noGrp="1"/>
          </p:cNvSpPr>
          <p:nvPr/>
        </p:nvSpPr>
        <p:spPr>
          <a:xfrm>
            <a:off x="1600200" y="21907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0.651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3221B7-ADE7-4446-8794-2F03D5F92E5B}"/>
              </a:ext>
            </a:extLst>
          </p:cNvPr>
          <p:cNvSpPr>
            <a:spLocks noGrp="1"/>
          </p:cNvSpPr>
          <p:nvPr/>
        </p:nvSpPr>
        <p:spPr>
          <a:xfrm>
            <a:off x="2647950" y="31432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0.443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EE87EF-FF03-4D87-A79C-C4CFB423A841}"/>
              </a:ext>
            </a:extLst>
          </p:cNvPr>
          <p:cNvSpPr>
            <a:spLocks noGrp="1"/>
          </p:cNvSpPr>
          <p:nvPr/>
        </p:nvSpPr>
        <p:spPr>
          <a:xfrm>
            <a:off x="3219450" y="26003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0.562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92D63D-E724-47A9-A9DE-0294C73DBAEA}"/>
              </a:ext>
            </a:extLst>
          </p:cNvPr>
          <p:cNvSpPr>
            <a:spLocks noGrp="1"/>
          </p:cNvSpPr>
          <p:nvPr/>
        </p:nvSpPr>
        <p:spPr>
          <a:xfrm>
            <a:off x="4267200" y="32766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0.414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EDD0F2-01E5-494F-BD3D-94C33DCE40C4}"/>
              </a:ext>
            </a:extLst>
          </p:cNvPr>
          <p:cNvSpPr>
            <a:spLocks noGrp="1"/>
          </p:cNvSpPr>
          <p:nvPr/>
        </p:nvSpPr>
        <p:spPr>
          <a:xfrm>
            <a:off x="4838700" y="312420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0.448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8E7DB7-3727-4128-AF22-C5B75BD36777}"/>
              </a:ext>
            </a:extLst>
          </p:cNvPr>
          <p:cNvSpPr>
            <a:spLocks noGrp="1"/>
          </p:cNvSpPr>
          <p:nvPr/>
        </p:nvSpPr>
        <p:spPr>
          <a:xfrm>
            <a:off x="5886450" y="4238625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0.202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C2E57B-2233-4DD2-8790-1469F6289A9E}"/>
              </a:ext>
            </a:extLst>
          </p:cNvPr>
          <p:cNvSpPr>
            <a:spLocks noGrp="1"/>
          </p:cNvSpPr>
          <p:nvPr/>
        </p:nvSpPr>
        <p:spPr>
          <a:xfrm>
            <a:off x="6457950" y="35242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l">
              <a:def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0.361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64C3CD-A3D2-40A6-9007-0B23E4918E9E}"/>
              </a:ext>
            </a:extLst>
          </p:cNvPr>
          <p:cNvSpPr>
            <a:spLocks noGrp="1"/>
          </p:cNvSpPr>
          <p:nvPr/>
        </p:nvSpPr>
        <p:spPr>
          <a:xfrm>
            <a:off x="7810500" y="1571625"/>
            <a:ext cx="3524250" cy="119062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6A1CEE-40C8-4CAD-AB69-4A329BB0EB80}"/>
              </a:ext>
            </a:extLst>
          </p:cNvPr>
          <p:cNvSpPr>
            <a:spLocks noGrp="1"/>
          </p:cNvSpPr>
          <p:nvPr/>
        </p:nvSpPr>
        <p:spPr>
          <a:xfrm>
            <a:off x="7810500" y="1571625"/>
            <a:ext cx="76200" cy="1190625"/>
          </a:xfrm>
          <a:prstGeom prst="rect">
            <a:avLst/>
          </a:prstGeom>
          <a:solidFill>
            <a:srgbClr val="208B83"/>
          </a:solidFill>
          <a:ln w="0">
            <a:solidFill>
              <a:srgbClr val="208B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36EB1B-A51F-4BC3-AB24-788276F087EC}"/>
              </a:ext>
            </a:extLst>
          </p:cNvPr>
          <p:cNvSpPr>
            <a:spLocks noGrp="1"/>
          </p:cNvSpPr>
          <p:nvPr/>
        </p:nvSpPr>
        <p:spPr>
          <a:xfrm>
            <a:off x="8048625" y="1752600"/>
            <a:ext cx="3095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0.218 → 0.090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498503-D1B0-41AA-A117-A26667F3C988}"/>
              </a:ext>
            </a:extLst>
          </p:cNvPr>
          <p:cNvSpPr>
            <a:spLocks noGrp="1"/>
          </p:cNvSpPr>
          <p:nvPr/>
        </p:nvSpPr>
        <p:spPr>
          <a:xfrm>
            <a:off x="8048625" y="2333625"/>
            <a:ext cx="3095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RF 平均空间 ΔR²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DA4D80-CFFA-4242-AB48-2AAAC3344092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1666875" cy="119062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147E5E-CE74-4BA5-9426-76298C973BFB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76200" cy="1190625"/>
          </a:xfrm>
          <a:prstGeom prst="rect">
            <a:avLst/>
          </a:prstGeom>
          <a:solidFill>
            <a:srgbClr val="2E6FB5"/>
          </a:solidFill>
          <a:ln w="0">
            <a:solidFill>
              <a:srgbClr val="2E6F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1B2C08-846E-4670-872D-106D3E067FDF}"/>
              </a:ext>
            </a:extLst>
          </p:cNvPr>
          <p:cNvSpPr>
            <a:spLocks noGrp="1"/>
          </p:cNvSpPr>
          <p:nvPr/>
        </p:nvSpPr>
        <p:spPr>
          <a:xfrm>
            <a:off x="8048625" y="3228975"/>
            <a:ext cx="123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rPr>
              <a:t>−59%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DC4C0E-C84B-42BD-BEB6-C4A387BD0A3A}"/>
              </a:ext>
            </a:extLst>
          </p:cNvPr>
          <p:cNvSpPr>
            <a:spLocks noGrp="1"/>
          </p:cNvSpPr>
          <p:nvPr/>
        </p:nvSpPr>
        <p:spPr>
          <a:xfrm>
            <a:off x="8048625" y="3810000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RF 空间损失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FD27DF-D383-497F-9472-F69778EF2EFB}"/>
              </a:ext>
            </a:extLst>
          </p:cNvPr>
          <p:cNvSpPr>
            <a:spLocks noGrp="1"/>
          </p:cNvSpPr>
          <p:nvPr/>
        </p:nvSpPr>
        <p:spPr>
          <a:xfrm>
            <a:off x="9667875" y="3048000"/>
            <a:ext cx="1666875" cy="1190625"/>
          </a:xfrm>
          <a:prstGeom prst="rect">
            <a:avLst/>
          </a:prstGeom>
          <a:solidFill>
            <a:srgbClr val="F1F2F3"/>
          </a:solidFill>
          <a:ln w="0">
            <a:solidFill>
              <a:srgbClr val="F1F2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C0FC7B-C4BB-476F-B878-AC83033803C7}"/>
              </a:ext>
            </a:extLst>
          </p:cNvPr>
          <p:cNvSpPr>
            <a:spLocks noGrp="1"/>
          </p:cNvSpPr>
          <p:nvPr/>
        </p:nvSpPr>
        <p:spPr>
          <a:xfrm>
            <a:off x="9667875" y="3048000"/>
            <a:ext cx="76200" cy="1190625"/>
          </a:xfrm>
          <a:prstGeom prst="rect">
            <a:avLst/>
          </a:prstGeom>
          <a:solidFill>
            <a:srgbClr val="D9683B"/>
          </a:solidFill>
          <a:ln w="0">
            <a:solidFill>
              <a:srgbClr val="D968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6E6A2D-E1B5-42B1-AD0C-AF3C7AAED0E6}"/>
              </a:ext>
            </a:extLst>
          </p:cNvPr>
          <p:cNvSpPr>
            <a:spLocks noGrp="1"/>
          </p:cNvSpPr>
          <p:nvPr/>
        </p:nvSpPr>
        <p:spPr>
          <a:xfrm>
            <a:off x="9906000" y="3228975"/>
            <a:ext cx="123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5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−77%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12A426-73C3-48F3-9465-F3DC7CEEE63C}"/>
              </a:ext>
            </a:extLst>
          </p:cNvPr>
          <p:cNvSpPr>
            <a:spLocks noGrp="1"/>
          </p:cNvSpPr>
          <p:nvPr/>
        </p:nvSpPr>
        <p:spPr>
          <a:xfrm>
            <a:off x="9906000" y="3810000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RF 前十 ΔR²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6D5981-2DEB-43C1-8816-7CE8BB36A251}"/>
              </a:ext>
            </a:extLst>
          </p:cNvPr>
          <p:cNvSpPr>
            <a:spLocks noGrp="1"/>
          </p:cNvSpPr>
          <p:nvPr/>
        </p:nvSpPr>
        <p:spPr>
          <a:xfrm>
            <a:off x="7810500" y="4524375"/>
            <a:ext cx="3524250" cy="1143000"/>
          </a:xfrm>
          <a:prstGeom prst="rect">
            <a:avLst/>
          </a:prstGeom>
          <a:solidFill>
            <a:srgbClr val="E7F3F1"/>
          </a:solidFill>
          <a:ln w="0">
            <a:solidFill>
              <a:srgbClr val="E7F3F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CB8E1B8-30A4-42B5-A908-F018CAFC66D9}"/>
              </a:ext>
            </a:extLst>
          </p:cNvPr>
          <p:cNvSpPr>
            <a:spLocks noGrp="1"/>
          </p:cNvSpPr>
          <p:nvPr/>
        </p:nvSpPr>
        <p:spPr>
          <a:xfrm>
            <a:off x="8077200" y="47625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89"/>
          </a:bodyPr>
          <a:lstStyle/>
          <a:p>
            <a:pPr algn="l">
              <a:defRPr sz="157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当前判断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CEAF48-5CEE-4CF2-98D3-469CDD2CB4E7}"/>
              </a:ext>
            </a:extLst>
          </p:cNvPr>
          <p:cNvSpPr>
            <a:spLocks noGrp="1"/>
          </p:cNvSpPr>
          <p:nvPr/>
        </p:nvSpPr>
        <p:spPr>
          <a:xfrm>
            <a:off x="8077200" y="5095875"/>
            <a:ext cx="3000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596"/>
          </a:bodyPr>
          <a:lstStyle/>
          <a:p>
            <a:pPr algn="l">
              <a:defRPr sz="14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更广的空间覆盖主要改善了未见区域表现，而不是制造更高的随机验证分数。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08BEA2D-6902-435F-94B5-56734DC25C98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AlphaEarth 区域复现 · 组会进度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573E5C4-DB14-4554-A08D-0F2CF77556B4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8665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-8-title">
            <a:extLst>
              <a:ext uri="{FF2B5EF4-FFF2-40B4-BE49-F238E27FC236}">
                <a16:creationId xmlns:a16="http://schemas.microsoft.com/office/drawing/2014/main" id="{005C0607-5488-4674-88D0-92CDD792D61E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目前仍需区分：真实环境信息、坐标代理与区域尺度效应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ED84E7-5770-4D41-B6A4-1C9515850AE5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8E28A18-1656-4326-9E0D-CDBF701221D6}"/>
              </a:ext>
            </a:extLst>
          </p:cNvPr>
          <p:cNvSpPr>
            <a:spLocks noGrp="1"/>
          </p:cNvSpPr>
          <p:nvPr/>
        </p:nvSpPr>
        <p:spPr>
          <a:xfrm>
            <a:off x="457200" y="1476375"/>
            <a:ext cx="7143750" cy="39052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2004254"/>
            <a:ext cx="7143750" cy="2849492"/>
          </a:xfrm>
          <a:prstGeom prst="roundRect">
            <a:avLst>
              <a:gd name="adj" fmla="val 2439"/>
            </a:avLst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B8C1D68-6AF1-4722-B211-211D656BBF35}"/>
              </a:ext>
            </a:extLst>
          </p:cNvPr>
          <p:cNvSpPr>
            <a:spLocks noGrp="1"/>
          </p:cNvSpPr>
          <p:nvPr/>
        </p:nvSpPr>
        <p:spPr>
          <a:xfrm>
            <a:off x="8048625" y="16002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/>
          <a:p>
            <a:pPr algn="l">
              <a:defRPr sz="202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已有证据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69D690-82BC-40E3-A35C-E7BB694699E5}"/>
              </a:ext>
            </a:extLst>
          </p:cNvPr>
          <p:cNvSpPr>
            <a:spLocks noGrp="1"/>
          </p:cNvSpPr>
          <p:nvPr/>
        </p:nvSpPr>
        <p:spPr>
          <a:xfrm>
            <a:off x="8048625" y="2143125"/>
            <a:ext cx="3143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空间分块下，AlphaEarth 与联合输入仍优于仅坐标，说明嵌入不是纯坐标代理。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4BEFF6-6B40-4B2C-BBC5-C391E0E58B30}"/>
              </a:ext>
            </a:extLst>
          </p:cNvPr>
          <p:cNvSpPr>
            <a:spLocks noGrp="1"/>
          </p:cNvSpPr>
          <p:nvPr/>
        </p:nvSpPr>
        <p:spPr>
          <a:xfrm>
            <a:off x="8048625" y="3667125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827"/>
          </a:bodyPr>
          <a:lstStyle/>
          <a:p>
            <a:pPr algn="l">
              <a:defRPr sz="202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尚未闭环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3CF2DC-D708-44C3-8880-9535E9387AB6}"/>
              </a:ext>
            </a:extLst>
          </p:cNvPr>
          <p:cNvSpPr>
            <a:spLocks noGrp="1"/>
          </p:cNvSpPr>
          <p:nvPr/>
        </p:nvSpPr>
        <p:spPr>
          <a:xfrm>
            <a:off x="8048625" y="4210050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• 广东省公平基线与三种子审计</a:t>
            </a:r>
          </a:p>
          <a:p>
            <a:pPr algn="l">
              <a:defRPr sz="157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• 跨城市留出与尺度敏感性</a:t>
            </a:r>
          </a:p>
          <a:p>
            <a:pPr algn="l">
              <a:defRPr sz="157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• GBA ↔ 广东维度字典稳定性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57EF79-A5C4-4A4B-87C6-185D41CCE964}"/>
              </a:ext>
            </a:extLst>
          </p:cNvPr>
          <p:cNvSpPr>
            <a:spLocks noGrp="1"/>
          </p:cNvSpPr>
          <p:nvPr/>
        </p:nvSpPr>
        <p:spPr>
          <a:xfrm>
            <a:off x="457200" y="5667375"/>
            <a:ext cx="10744200" cy="457200"/>
          </a:xfrm>
          <a:prstGeom prst="rect">
            <a:avLst/>
          </a:prstGeom>
          <a:solidFill>
            <a:srgbClr val="FFF1E9"/>
          </a:solidFill>
          <a:ln w="0">
            <a:solidFill>
              <a:srgbClr val="FFF1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533BA3-3046-435A-83F1-53B085A021C1}"/>
              </a:ext>
            </a:extLst>
          </p:cNvPr>
          <p:cNvSpPr>
            <a:spLocks noGrp="1"/>
          </p:cNvSpPr>
          <p:nvPr/>
        </p:nvSpPr>
        <p:spPr>
          <a:xfrm>
            <a:off x="685800" y="57816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风险提示：广东省坐标基线对气温、植被等变量仍很强；方法收敛度仅 0.231，解释不能只依赖单一模型。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9E4A87-5283-418B-926C-D4D0646D4CD3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AlphaEarth 区域复现 · 组会进度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3CE634-09B8-4D3B-9136-0737AF72700C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702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-9-title">
            <a:extLst>
              <a:ext uri="{FF2B5EF4-FFF2-40B4-BE49-F238E27FC236}">
                <a16:creationId xmlns:a16="http://schemas.microsoft.com/office/drawing/2014/main" id="{639B3D24-03D2-4B95-9A21-1CC00087FA2F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下一阶段聚焦验证闭环，而不是继续堆模型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32A1E6-EC52-4294-9B40-A5913747568E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097875-95A8-4356-BC91-2B475B83F3A6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10477500" cy="28575"/>
          </a:xfrm>
          <a:prstGeom prst="rect">
            <a:avLst/>
          </a:prstGeom>
          <a:solidFill>
            <a:srgbClr val="C8CDD3"/>
          </a:solidFill>
          <a:ln w="0">
            <a:solidFill>
              <a:srgbClr val="C8CDD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9213C3-99DB-4C45-B513-A2ABB86958A7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E6FB5"/>
                </a:solidFill>
                <a:latin typeface="Arial Unicode MS"/>
                <a:ea typeface="Arial Unicode MS"/>
                <a:cs typeface="Arial Unicode MS"/>
              </a:rPr>
              <a:t>优先 1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F893835-2581-4B89-9AD1-876715B20F3E}"/>
              </a:ext>
            </a:extLst>
          </p:cNvPr>
          <p:cNvSpPr>
            <a:spLocks noGrp="1"/>
          </p:cNvSpPr>
          <p:nvPr/>
        </p:nvSpPr>
        <p:spPr>
          <a:xfrm>
            <a:off x="714375" y="3009900"/>
            <a:ext cx="285750" cy="285750"/>
          </a:xfrm>
          <a:prstGeom prst="ellipse">
            <a:avLst/>
          </a:prstGeom>
          <a:solidFill>
            <a:srgbClr val="2E6FB5"/>
          </a:solidFill>
          <a:ln w="0">
            <a:solidFill>
              <a:srgbClr val="2E6F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C9C8CD-A36A-4582-8ED0-4CB2C9F13A49}"/>
              </a:ext>
            </a:extLst>
          </p:cNvPr>
          <p:cNvSpPr>
            <a:spLocks noGrp="1"/>
          </p:cNvSpPr>
          <p:nvPr/>
        </p:nvSpPr>
        <p:spPr>
          <a:xfrm>
            <a:off x="714375" y="3571875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广东省质量审计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CBD4B9-3ABF-4A85-8221-748CA2327D59}"/>
              </a:ext>
            </a:extLst>
          </p:cNvPr>
          <p:cNvSpPr>
            <a:spLocks noGrp="1"/>
          </p:cNvSpPr>
          <p:nvPr/>
        </p:nvSpPr>
        <p:spPr>
          <a:xfrm>
            <a:off x="714375" y="4171950"/>
            <a:ext cx="3143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三随机种子</a:t>
            </a:r>
          </a:p>
          <a:p>
            <a:pPr algn="l">
              <a:def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坐标 / 嵌入 / 联合基线</a:t>
            </a:r>
          </a:p>
          <a:p>
            <a:pPr algn="l">
              <a:def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跨城市留出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C585C8-7CBF-48A1-A32B-EA3C83F13A88}"/>
              </a:ext>
            </a:extLst>
          </p:cNvPr>
          <p:cNvSpPr>
            <a:spLocks noGrp="1"/>
          </p:cNvSpPr>
          <p:nvPr/>
        </p:nvSpPr>
        <p:spPr>
          <a:xfrm>
            <a:off x="4381500" y="2476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8B83"/>
                </a:solidFill>
                <a:latin typeface="Arial Unicode MS"/>
                <a:ea typeface="Arial Unicode MS"/>
                <a:cs typeface="Arial Unicode MS"/>
              </a:rPr>
              <a:t>优先 2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E45593D-DD72-493D-92F3-9C68EDDACCF6}"/>
              </a:ext>
            </a:extLst>
          </p:cNvPr>
          <p:cNvSpPr>
            <a:spLocks noGrp="1"/>
          </p:cNvSpPr>
          <p:nvPr/>
        </p:nvSpPr>
        <p:spPr>
          <a:xfrm>
            <a:off x="4381500" y="3009900"/>
            <a:ext cx="285750" cy="285750"/>
          </a:xfrm>
          <a:prstGeom prst="ellipse">
            <a:avLst/>
          </a:prstGeom>
          <a:solidFill>
            <a:srgbClr val="208B83"/>
          </a:solidFill>
          <a:ln w="0">
            <a:solidFill>
              <a:srgbClr val="208B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692DB5-F839-41F3-BF1A-3EDAB95C87A8}"/>
              </a:ext>
            </a:extLst>
          </p:cNvPr>
          <p:cNvSpPr>
            <a:spLocks noGrp="1"/>
          </p:cNvSpPr>
          <p:nvPr/>
        </p:nvSpPr>
        <p:spPr>
          <a:xfrm>
            <a:off x="4381500" y="3571875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跨区域解释稳定性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CFDFA9-F5B2-4059-A92C-17FFF7255A5A}"/>
              </a:ext>
            </a:extLst>
          </p:cNvPr>
          <p:cNvSpPr>
            <a:spLocks noGrp="1"/>
          </p:cNvSpPr>
          <p:nvPr/>
        </p:nvSpPr>
        <p:spPr>
          <a:xfrm>
            <a:off x="4381500" y="4171950"/>
            <a:ext cx="3143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重建省域维度字典</a:t>
            </a:r>
          </a:p>
          <a:p>
            <a:pPr algn="l">
              <a:def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比较 GBA ↔ 广东</a:t>
            </a:r>
          </a:p>
          <a:p>
            <a:pPr algn="l">
              <a:def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筛选稳健维度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F37876-B23D-4275-AB7A-93D440E3D068}"/>
              </a:ext>
            </a:extLst>
          </p:cNvPr>
          <p:cNvSpPr>
            <a:spLocks noGrp="1"/>
          </p:cNvSpPr>
          <p:nvPr/>
        </p:nvSpPr>
        <p:spPr>
          <a:xfrm>
            <a:off x="8048625" y="24765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优先 3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FE89976-83F0-46C3-B7B0-8F6BF1633200}"/>
              </a:ext>
            </a:extLst>
          </p:cNvPr>
          <p:cNvSpPr>
            <a:spLocks noGrp="1"/>
          </p:cNvSpPr>
          <p:nvPr/>
        </p:nvSpPr>
        <p:spPr>
          <a:xfrm>
            <a:off x="8048625" y="3009900"/>
            <a:ext cx="285750" cy="285750"/>
          </a:xfrm>
          <a:prstGeom prst="ellipse">
            <a:avLst/>
          </a:prstGeom>
          <a:solidFill>
            <a:srgbClr val="D9683B"/>
          </a:solidFill>
          <a:ln w="0">
            <a:solidFill>
              <a:srgbClr val="D968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69071A-6D10-4540-A7C1-C88945B35189}"/>
              </a:ext>
            </a:extLst>
          </p:cNvPr>
          <p:cNvSpPr>
            <a:spLocks noGrp="1"/>
          </p:cNvSpPr>
          <p:nvPr/>
        </p:nvSpPr>
        <p:spPr>
          <a:xfrm>
            <a:off x="8048625" y="3571875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应用与评测扩展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1EB7A2-0E94-4431-9AA1-42ADC85EA8BB}"/>
              </a:ext>
            </a:extLst>
          </p:cNvPr>
          <p:cNvSpPr>
            <a:spLocks noGrp="1"/>
          </p:cNvSpPr>
          <p:nvPr/>
        </p:nvSpPr>
        <p:spPr>
          <a:xfrm>
            <a:off x="8048625" y="4171950"/>
            <a:ext cx="3143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省域 FAISS / RAG</a:t>
            </a:r>
          </a:p>
          <a:p>
            <a:pPr algn="l">
              <a:def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外部 LLM 或专家评测</a:t>
            </a:r>
          </a:p>
          <a:p>
            <a:pPr algn="l">
              <a:def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形成论文图表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9997DF-9493-4972-A74B-F031BA0DE972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477500" cy="666750"/>
          </a:xfrm>
          <a:prstGeom prst="rect">
            <a:avLst/>
          </a:prstGeom>
          <a:solidFill>
            <a:srgbClr val="F4F5F6"/>
          </a:solidFill>
          <a:ln w="0">
            <a:solidFill>
              <a:srgbClr val="F4F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C4E463-807F-462C-A855-AA29E7BF4C1E}"/>
              </a:ext>
            </a:extLst>
          </p:cNvPr>
          <p:cNvSpPr>
            <a:spLocks noGrp="1"/>
          </p:cNvSpPr>
          <p:nvPr/>
        </p:nvSpPr>
        <p:spPr>
          <a:xfrm>
            <a:off x="952500" y="5657850"/>
            <a:ext cx="1381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424"/>
          </a:bodyPr>
          <a:lstStyle/>
          <a:p>
            <a:pPr algn="l">
              <a:defRPr sz="16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683B"/>
                </a:solidFill>
                <a:latin typeface="Arial Unicode MS"/>
                <a:ea typeface="Arial Unicode MS"/>
                <a:cs typeface="Arial Unicode MS"/>
              </a:rPr>
              <a:t>希望讨论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41A4CB-96DA-4B9D-92AC-9C68E776F9A1}"/>
              </a:ext>
            </a:extLst>
          </p:cNvPr>
          <p:cNvSpPr>
            <a:spLocks noGrp="1"/>
          </p:cNvSpPr>
          <p:nvPr/>
        </p:nvSpPr>
        <p:spPr>
          <a:xfrm>
            <a:off x="2428875" y="5638800"/>
            <a:ext cx="842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562"/>
          </a:bodyPr>
          <a:lstStyle/>
          <a:p>
            <a:pPr algn="l">
              <a:defRPr sz="15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214"/>
                </a:solidFill>
                <a:latin typeface="Arial Unicode MS"/>
                <a:ea typeface="Arial Unicode MS"/>
                <a:cs typeface="Arial Unicode MS"/>
              </a:rPr>
              <a:t>① 主评价应以空间分块还是留一城市为主？    ② 下一阶段优先做稳健维度字典，还是先扩展省域 RAG 演示？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233675-D07A-431B-9456-B4EB296BFDDE}"/>
              </a:ext>
            </a:extLst>
          </p:cNvPr>
          <p:cNvSpPr>
            <a:spLocks noGrp="1"/>
          </p:cNvSpPr>
          <p:nvPr/>
        </p:nvSpPr>
        <p:spPr>
          <a:xfrm>
            <a:off x="457200" y="63817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l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AlphaEarth 区域复现 · 组会进度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B0FA93-B6B7-47CC-A2C4-C4A69591B760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87"/>
          </a:bodyPr>
          <a:lstStyle/>
          <a:p>
            <a:pPr algn="r">
              <a:def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46B75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243822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1209</Words>
  <Application>Microsoft Macintosh PowerPoint</Application>
  <DocSecurity>0</DocSecurity>
  <PresentationFormat>宽屏</PresentationFormat>
  <Paragraphs>178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Zihan XU</cp:lastModifiedBy>
  <cp:revision>1</cp:revision>
  <dcterms:created xsi:type="dcterms:W3CDTF">2026-08-17T15:55:08Z</dcterms:created>
  <dcterms:modified xsi:type="dcterms:W3CDTF">2026-08-19T02:38:31Z</dcterms:modified>
</cp:coreProperties>
</file>